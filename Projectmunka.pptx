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64" r:id="rId2"/>
    <p:sldId id="286" r:id="rId3"/>
    <p:sldId id="287" r:id="rId4"/>
    <p:sldId id="290" r:id="rId5"/>
    <p:sldId id="265" r:id="rId6"/>
    <p:sldId id="267" r:id="rId7"/>
    <p:sldId id="266" r:id="rId8"/>
    <p:sldId id="269" r:id="rId9"/>
    <p:sldId id="268" r:id="rId10"/>
    <p:sldId id="275" r:id="rId11"/>
    <p:sldId id="276" r:id="rId12"/>
    <p:sldId id="277" r:id="rId13"/>
    <p:sldId id="278" r:id="rId14"/>
    <p:sldId id="288" r:id="rId15"/>
    <p:sldId id="289" r:id="rId16"/>
    <p:sldId id="279" r:id="rId17"/>
    <p:sldId id="28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302" r:id="rId27"/>
    <p:sldId id="298" r:id="rId28"/>
    <p:sldId id="301" r:id="rId29"/>
    <p:sldId id="300" r:id="rId30"/>
    <p:sldId id="303" r:id="rId31"/>
    <p:sldId id="281" r:id="rId32"/>
  </p:sldIdLst>
  <p:sldSz cx="14630400" cy="8229600"/>
  <p:notesSz cx="8229600" cy="14630400"/>
  <p:embeddedFontLst>
    <p:embeddedFont>
      <p:font typeface="Instrument Sans Medium" panose="020B060402020202020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zakasz 1" id="{2A6A7D18-C3DE-465A-9D81-0B98096390AC}">
          <p14:sldIdLst>
            <p14:sldId id="264"/>
            <p14:sldId id="286"/>
            <p14:sldId id="287"/>
            <p14:sldId id="290"/>
            <p14:sldId id="265"/>
            <p14:sldId id="267"/>
            <p14:sldId id="266"/>
            <p14:sldId id="269"/>
            <p14:sldId id="268"/>
            <p14:sldId id="275"/>
            <p14:sldId id="276"/>
            <p14:sldId id="277"/>
            <p14:sldId id="278"/>
            <p14:sldId id="288"/>
            <p14:sldId id="289"/>
            <p14:sldId id="279"/>
            <p14:sldId id="280"/>
            <p14:sldId id="291"/>
            <p14:sldId id="292"/>
            <p14:sldId id="293"/>
            <p14:sldId id="294"/>
            <p14:sldId id="295"/>
            <p14:sldId id="296"/>
            <p14:sldId id="297"/>
            <p14:sldId id="299"/>
            <p14:sldId id="302"/>
            <p14:sldId id="298"/>
            <p14:sldId id="301"/>
            <p14:sldId id="300"/>
            <p14:sldId id="303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F0"/>
    <a:srgbClr val="2E4161"/>
    <a:srgbClr val="724527"/>
    <a:srgbClr val="FFD100"/>
    <a:srgbClr val="FFFFFF"/>
    <a:srgbClr val="70AD47"/>
    <a:srgbClr val="ED7D31"/>
    <a:srgbClr val="4472C4"/>
    <a:srgbClr val="34599C"/>
    <a:srgbClr val="14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Sötét stílus 1 – 1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ötét stílus 1 – 2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ötét stílus 1 – 6. jelölőszín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3" autoAdjust="0"/>
    <p:restoredTop sz="96449" autoAdjust="0"/>
  </p:normalViewPr>
  <p:slideViewPr>
    <p:cSldViewPr snapToGrid="0">
      <p:cViewPr varScale="1">
        <p:scale>
          <a:sx n="93" d="100"/>
          <a:sy n="93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190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8792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238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480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5978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3148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38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421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l="10457" r="30262"/>
          <a:stretch/>
        </p:blipFill>
        <p:spPr>
          <a:xfrm>
            <a:off x="9144000" y="704100"/>
            <a:ext cx="5486400" cy="75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title="home-hero-arr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50" y="2233395"/>
            <a:ext cx="10008376" cy="388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50"/>
              <a:buFont typeface="Instrument Sans Medium"/>
              <a:buNone/>
            </a:pPr>
            <a:r>
              <a:rPr lang="en" sz="445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Viszgaremek</a:t>
            </a:r>
            <a:endParaRPr sz="4450" b="0" i="0" u="none" strike="noStrike" cap="none" dirty="0"/>
          </a:p>
        </p:txBody>
      </p:sp>
      <p:sp>
        <p:nvSpPr>
          <p:cNvPr id="195" name="Google Shape;195;p2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None/>
            </a:pPr>
            <a:r>
              <a:rPr lang="en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Katona Dominik</a:t>
            </a:r>
            <a:br>
              <a:rPr lang="en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Tóth Ádám</a:t>
            </a:r>
            <a:endParaRPr sz="1750" b="0" i="0" u="none" strike="noStrike" cap="none" dirty="0"/>
          </a:p>
        </p:txBody>
      </p:sp>
      <p:sp>
        <p:nvSpPr>
          <p:cNvPr id="197" name="Google Shape;197;p21"/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21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05;p22">
            <a:extLst>
              <a:ext uri="{FF2B5EF4-FFF2-40B4-BE49-F238E27FC236}">
                <a16:creationId xmlns:a16="http://schemas.microsoft.com/office/drawing/2014/main" id="{AB9F8F99-9176-624F-112D-1B575ED74618}"/>
              </a:ext>
            </a:extLst>
          </p:cNvPr>
          <p:cNvSpPr/>
          <p:nvPr/>
        </p:nvSpPr>
        <p:spPr>
          <a:xfrm>
            <a:off x="1259572" y="8234731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Bemutatkozás</a:t>
            </a:r>
            <a:endParaRPr sz="320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61670630-B398-66C3-D839-E151B8FB7BC0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282654D3-3CFC-4C18-AAF7-5466AF697C8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5;p22">
            <a:extLst>
              <a:ext uri="{FF2B5EF4-FFF2-40B4-BE49-F238E27FC236}">
                <a16:creationId xmlns:a16="http://schemas.microsoft.com/office/drawing/2014/main" id="{2FE9F36D-1CFE-ECC7-D76E-24B592F289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Bemutatkozás</a:t>
            </a:r>
            <a:endParaRPr sz="3200" b="0" i="0" u="none" strike="noStrike" cap="none" dirty="0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F7475BE4-51D3-28E2-EDCE-3BE1172575B0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050D229D-3FFD-5D51-6FCB-07C4DBC23C81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zis 6">
            <a:extLst>
              <a:ext uri="{FF2B5EF4-FFF2-40B4-BE49-F238E27FC236}">
                <a16:creationId xmlns:a16="http://schemas.microsoft.com/office/drawing/2014/main" id="{D653B094-51FB-6266-3BC3-45ACE041D30E}"/>
              </a:ext>
            </a:extLst>
          </p:cNvPr>
          <p:cNvSpPr/>
          <p:nvPr/>
        </p:nvSpPr>
        <p:spPr>
          <a:xfrm>
            <a:off x="14072886" y="9006005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Google Shape;196;p21">
            <a:extLst>
              <a:ext uri="{FF2B5EF4-FFF2-40B4-BE49-F238E27FC236}">
                <a16:creationId xmlns:a16="http://schemas.microsoft.com/office/drawing/2014/main" id="{72B0F064-0DF5-1449-1516-6ADFF5C9CE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457" r="30262"/>
          <a:stretch/>
        </p:blipFill>
        <p:spPr>
          <a:xfrm>
            <a:off x="9144000" y="-7545133"/>
            <a:ext cx="5486400" cy="75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9;p21" title="home-hero-arrow.png">
            <a:extLst>
              <a:ext uri="{FF2B5EF4-FFF2-40B4-BE49-F238E27FC236}">
                <a16:creationId xmlns:a16="http://schemas.microsoft.com/office/drawing/2014/main" id="{9C3C98C5-F4FE-9B78-8DAC-B28B2706FB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50" y="-6015838"/>
            <a:ext cx="10008376" cy="388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94;p21">
            <a:extLst>
              <a:ext uri="{FF2B5EF4-FFF2-40B4-BE49-F238E27FC236}">
                <a16:creationId xmlns:a16="http://schemas.microsoft.com/office/drawing/2014/main" id="{C5A29BE4-5A1F-1451-3434-101246F9085D}"/>
              </a:ext>
            </a:extLst>
          </p:cNvPr>
          <p:cNvSpPr/>
          <p:nvPr/>
        </p:nvSpPr>
        <p:spPr>
          <a:xfrm>
            <a:off x="793790" y="-520325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50"/>
              <a:buFont typeface="Instrument Sans Medium"/>
              <a:buNone/>
            </a:pPr>
            <a:r>
              <a:rPr lang="en" sz="445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Viszgaremek</a:t>
            </a:r>
            <a:endParaRPr sz="4450" b="0" i="0" u="none" strike="noStrike" cap="none" dirty="0"/>
          </a:p>
        </p:txBody>
      </p:sp>
      <p:sp>
        <p:nvSpPr>
          <p:cNvPr id="11" name="Google Shape;195;p21">
            <a:extLst>
              <a:ext uri="{FF2B5EF4-FFF2-40B4-BE49-F238E27FC236}">
                <a16:creationId xmlns:a16="http://schemas.microsoft.com/office/drawing/2014/main" id="{25404564-5DA3-387F-D3B9-14DBEBC99FAD}"/>
              </a:ext>
            </a:extLst>
          </p:cNvPr>
          <p:cNvSpPr/>
          <p:nvPr/>
        </p:nvSpPr>
        <p:spPr>
          <a:xfrm>
            <a:off x="793790" y="-4154316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None/>
            </a:pPr>
            <a:r>
              <a:rPr lang="en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By Chambr &amp; Adam</a:t>
            </a:r>
            <a:endParaRPr sz="1750" b="0" i="0" u="none" strike="noStrike" cap="none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81AB1C2-C461-788A-6F99-6B7095B30ADB}"/>
              </a:ext>
            </a:extLst>
          </p:cNvPr>
          <p:cNvSpPr txBox="1"/>
          <p:nvPr/>
        </p:nvSpPr>
        <p:spPr>
          <a:xfrm>
            <a:off x="1544595" y="3052119"/>
            <a:ext cx="6079524" cy="2607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2751505-68CB-A486-1F4D-E4A369833163}"/>
              </a:ext>
            </a:extLst>
          </p:cNvPr>
          <p:cNvSpPr txBox="1"/>
          <p:nvPr/>
        </p:nvSpPr>
        <p:spPr>
          <a:xfrm>
            <a:off x="1371599" y="2575064"/>
            <a:ext cx="114670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nstrument Sans Medium" panose="020B0604020202020204" charset="0"/>
              </a:rPr>
              <a:t>Projektünk célja a GLS futárszolgálat hálózatának valósághű modellezése és </a:t>
            </a:r>
            <a:r>
              <a:rPr lang="hu-HU" sz="2000" dirty="0" err="1">
                <a:solidFill>
                  <a:schemeClr val="bg1"/>
                </a:solidFill>
                <a:latin typeface="Instrument Sans Medium" panose="020B0604020202020204" charset="0"/>
              </a:rPr>
              <a:t>replikálása</a:t>
            </a:r>
            <a:r>
              <a:rPr lang="hu-HU" sz="2000" dirty="0">
                <a:solidFill>
                  <a:schemeClr val="bg1"/>
                </a:solidFill>
                <a:latin typeface="Instrument Sans Medium" panose="020B0604020202020204" charset="0"/>
              </a:rPr>
              <a:t>. A rendszer tervezése során a GLS logisztikai működését vettük alapul, különös figyelmet fordítva a hálózati struktúrára. Megoldásunk célja egy stabil, valós környezetet hűen tükröző hálózati modell létrehozása.</a:t>
            </a:r>
          </a:p>
        </p:txBody>
      </p:sp>
    </p:spTree>
    <p:extLst>
      <p:ext uri="{BB962C8B-B14F-4D97-AF65-F5344CB8AC3E}">
        <p14:creationId xmlns:p14="http://schemas.microsoft.com/office/powerpoint/2010/main" val="21736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034741EF-AF8D-2083-0554-6408B3BE76BC}"/>
              </a:ext>
            </a:extLst>
          </p:cNvPr>
          <p:cNvSpPr/>
          <p:nvPr/>
        </p:nvSpPr>
        <p:spPr>
          <a:xfrm>
            <a:off x="0" y="-176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E10F7641-F35B-C4AD-EEC3-C11A6A560E3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5858"/>
            <a:ext cx="768096" cy="25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6807E5B6-257D-860E-845C-272E093E0508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zis 4">
            <a:extLst>
              <a:ext uri="{FF2B5EF4-FFF2-40B4-BE49-F238E27FC236}">
                <a16:creationId xmlns:a16="http://schemas.microsoft.com/office/drawing/2014/main" id="{34BCF7E8-A21A-0837-49CD-4E24C5E9A75F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Google Shape;205;p22">
            <a:extLst>
              <a:ext uri="{FF2B5EF4-FFF2-40B4-BE49-F238E27FC236}">
                <a16:creationId xmlns:a16="http://schemas.microsoft.com/office/drawing/2014/main" id="{CF60B789-E835-9276-45A4-56014F8EEAE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Eszközök</a:t>
            </a:r>
            <a:endParaRPr sz="3200" b="0" i="0" u="none" strike="noStrike" cap="none" dirty="0"/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EB5CC409-21B5-ACA2-C512-C25E52632319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zis 7">
            <a:extLst>
              <a:ext uri="{FF2B5EF4-FFF2-40B4-BE49-F238E27FC236}">
                <a16:creationId xmlns:a16="http://schemas.microsoft.com/office/drawing/2014/main" id="{D5E27B5E-5B02-61CA-72B0-2527DBDBB6F2}"/>
              </a:ext>
            </a:extLst>
          </p:cNvPr>
          <p:cNvSpPr/>
          <p:nvPr/>
        </p:nvSpPr>
        <p:spPr>
          <a:xfrm>
            <a:off x="14072886" y="9006005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9BFFA11B-7768-DBB7-E2F2-5A254726434F}"/>
              </a:ext>
            </a:extLst>
          </p:cNvPr>
          <p:cNvSpPr txBox="1"/>
          <p:nvPr/>
        </p:nvSpPr>
        <p:spPr>
          <a:xfrm>
            <a:off x="247950" y="929958"/>
            <a:ext cx="35834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4db Router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3db Switch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2db Laptop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2db FPR 1010 ASA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1db </a:t>
            </a:r>
            <a:r>
              <a:rPr lang="en-US" sz="2000" dirty="0" err="1">
                <a:solidFill>
                  <a:schemeClr val="bg1"/>
                </a:solidFill>
                <a:latin typeface="Instrument Sans Medium" panose="020B0604020202020204" charset="0"/>
              </a:rPr>
              <a:t>AiroNet</a:t>
            </a:r>
            <a:r>
              <a:rPr lang="en-US" sz="2000" dirty="0">
                <a:solidFill>
                  <a:schemeClr val="bg1"/>
                </a:solidFill>
                <a:latin typeface="Instrument Sans Medium" panose="020B0604020202020204" charset="0"/>
              </a:rPr>
              <a:t> 1000 AP</a:t>
            </a:r>
            <a:endParaRPr lang="hu-HU" sz="2000" dirty="0">
              <a:solidFill>
                <a:schemeClr val="bg1"/>
              </a:solidFill>
              <a:latin typeface="Instrument Sans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3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729190BF-65E4-577F-E987-F522910641E1}"/>
              </a:ext>
            </a:extLst>
          </p:cNvPr>
          <p:cNvSpPr/>
          <p:nvPr/>
        </p:nvSpPr>
        <p:spPr>
          <a:xfrm>
            <a:off x="0" y="-176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EDEA3CCD-A389-19BC-D086-AD07EDC905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585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5;p22">
            <a:extLst>
              <a:ext uri="{FF2B5EF4-FFF2-40B4-BE49-F238E27FC236}">
                <a16:creationId xmlns:a16="http://schemas.microsoft.com/office/drawing/2014/main" id="{FB6AE488-E6F1-8C22-4B01-5C1771EC1822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Projektszervezés</a:t>
            </a:r>
            <a:endParaRPr sz="3200" b="0" i="0" u="none" strike="noStrike" cap="none" dirty="0"/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D855ACC7-96AF-8286-EAF6-735677EC7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046774"/>
              </p:ext>
            </p:extLst>
          </p:nvPr>
        </p:nvGraphicFramePr>
        <p:xfrm>
          <a:off x="2438400" y="2631440"/>
          <a:ext cx="9753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618680878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3295690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Katona Dominik</a:t>
                      </a:r>
                      <a:endParaRPr lang="hu-H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Tóth Ádám</a:t>
                      </a:r>
                      <a:endParaRPr lang="hu-H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825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Dokumentáció</a:t>
                      </a:r>
                      <a:endParaRPr lang="hu-H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Alkalmazás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41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PPT</a:t>
                      </a:r>
                      <a:endParaRPr lang="hu-H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Packet Tracer</a:t>
                      </a:r>
                      <a:endParaRPr lang="hu-H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26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VLSM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Fizikai</a:t>
                      </a:r>
                      <a:r>
                        <a:rPr lang="en-US" sz="1800" dirty="0"/>
                        <a:t> eszközök </a:t>
                      </a:r>
                      <a:r>
                        <a:rPr lang="en-US" sz="1800" dirty="0" err="1"/>
                        <a:t>konfigurálása</a:t>
                      </a:r>
                      <a:endParaRPr lang="hu-H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71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Weboldal</a:t>
                      </a:r>
                      <a:endParaRPr lang="hu-H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Szerverek</a:t>
                      </a:r>
                      <a:endParaRPr lang="hu-H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32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87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479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67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 dirty="0"/>
          </a:p>
        </p:txBody>
      </p:sp>
      <p:sp>
        <p:nvSpPr>
          <p:cNvPr id="211" name="Google Shape;211;p22"/>
          <p:cNvSpPr/>
          <p:nvPr/>
        </p:nvSpPr>
        <p:spPr>
          <a:xfrm>
            <a:off x="2194550" y="2369825"/>
            <a:ext cx="7362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Felhasználóbarát GUI a Cisco eszközök egyszerű kezeléséhez - konfiguráció és monitoring egy helyen.</a:t>
            </a:r>
            <a:endParaRPr sz="160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3373755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3150037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3228380"/>
            <a:ext cx="172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3216316"/>
            <a:ext cx="586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2194550" y="3668174"/>
            <a:ext cx="6217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b="0" i="0" u="none" strike="noStrike" cap="none" dirty="0"/>
          </a:p>
        </p:txBody>
      </p:sp>
      <p:sp>
        <p:nvSpPr>
          <p:cNvPr id="217" name="Google Shape;217;p22"/>
          <p:cNvSpPr/>
          <p:nvPr/>
        </p:nvSpPr>
        <p:spPr>
          <a:xfrm>
            <a:off x="1257300" y="46643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44406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45190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45069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 dirty="0"/>
          </a:p>
        </p:txBody>
      </p:sp>
      <p:sp>
        <p:nvSpPr>
          <p:cNvPr id="221" name="Google Shape;221;p22"/>
          <p:cNvSpPr/>
          <p:nvPr/>
        </p:nvSpPr>
        <p:spPr>
          <a:xfrm>
            <a:off x="2194550" y="49587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/>
          </a:p>
        </p:txBody>
      </p:sp>
      <p:sp>
        <p:nvSpPr>
          <p:cNvPr id="222" name="Google Shape;222;p22"/>
          <p:cNvSpPr/>
          <p:nvPr/>
        </p:nvSpPr>
        <p:spPr>
          <a:xfrm>
            <a:off x="1257300" y="6077536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5853818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5932161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/>
          </a:p>
        </p:txBody>
      </p:sp>
      <p:sp>
        <p:nvSpPr>
          <p:cNvPr id="225" name="Google Shape;225;p22"/>
          <p:cNvSpPr/>
          <p:nvPr/>
        </p:nvSpPr>
        <p:spPr>
          <a:xfrm>
            <a:off x="2194560" y="5920099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6371981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F3112D8F-BFE9-656D-0A3B-5AEA44BB76DA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D9773050-F4AE-BA64-E732-BE3E331545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  <p:sp>
        <p:nvSpPr>
          <p:cNvPr id="28" name="Ellipszis 27">
            <a:extLst>
              <a:ext uri="{FF2B5EF4-FFF2-40B4-BE49-F238E27FC236}">
                <a16:creationId xmlns:a16="http://schemas.microsoft.com/office/drawing/2014/main" id="{7A69ED77-FD62-8F10-E583-0629D8C51342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0000"/>
              </a:solidFill>
            </a:endParaRP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390F0AF2-9A52-BCD3-4ADF-B63DE24EAB3C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zis 13">
            <a:extLst>
              <a:ext uri="{FF2B5EF4-FFF2-40B4-BE49-F238E27FC236}">
                <a16:creationId xmlns:a16="http://schemas.microsoft.com/office/drawing/2014/main" id="{57367CF8-E750-6153-44AD-0496F6D0B7FC}"/>
              </a:ext>
            </a:extLst>
          </p:cNvPr>
          <p:cNvSpPr/>
          <p:nvPr/>
        </p:nvSpPr>
        <p:spPr>
          <a:xfrm>
            <a:off x="14072886" y="9006005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1" name="Google Shape;211;p22"/>
          <p:cNvSpPr/>
          <p:nvPr/>
        </p:nvSpPr>
        <p:spPr>
          <a:xfrm>
            <a:off x="2194550" y="2369825"/>
            <a:ext cx="7362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Felhasználóbarát GUI a Cisco eszközök egyszerű kezeléséhez - konfiguráció és monitoring egy helyen.</a:t>
            </a:r>
            <a:endParaRPr sz="1600" b="0" i="0" u="none" strike="noStrike" cap="none" dirty="0"/>
          </a:p>
        </p:txBody>
      </p:sp>
      <p:sp>
        <p:nvSpPr>
          <p:cNvPr id="212" name="Google Shape;212;p22"/>
          <p:cNvSpPr/>
          <p:nvPr/>
        </p:nvSpPr>
        <p:spPr>
          <a:xfrm>
            <a:off x="1257300" y="3373755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3150037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3228380"/>
            <a:ext cx="172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3216316"/>
            <a:ext cx="586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2194550" y="3668174"/>
            <a:ext cx="6217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b="0" i="0" u="none" strike="noStrike" cap="none" dirty="0"/>
          </a:p>
        </p:txBody>
      </p:sp>
      <p:sp>
        <p:nvSpPr>
          <p:cNvPr id="217" name="Google Shape;217;p22"/>
          <p:cNvSpPr/>
          <p:nvPr/>
        </p:nvSpPr>
        <p:spPr>
          <a:xfrm>
            <a:off x="1257300" y="46643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44406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45190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45069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 dirty="0"/>
          </a:p>
        </p:txBody>
      </p:sp>
      <p:sp>
        <p:nvSpPr>
          <p:cNvPr id="221" name="Google Shape;221;p22"/>
          <p:cNvSpPr/>
          <p:nvPr/>
        </p:nvSpPr>
        <p:spPr>
          <a:xfrm>
            <a:off x="2194550" y="49587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/>
          </a:p>
        </p:txBody>
      </p:sp>
      <p:sp>
        <p:nvSpPr>
          <p:cNvPr id="222" name="Google Shape;222;p22"/>
          <p:cNvSpPr/>
          <p:nvPr/>
        </p:nvSpPr>
        <p:spPr>
          <a:xfrm>
            <a:off x="1257300" y="6077536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5853818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5932161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/>
          </a:p>
        </p:txBody>
      </p:sp>
      <p:sp>
        <p:nvSpPr>
          <p:cNvPr id="225" name="Google Shape;225;p22"/>
          <p:cNvSpPr/>
          <p:nvPr/>
        </p:nvSpPr>
        <p:spPr>
          <a:xfrm>
            <a:off x="2194560" y="5920099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6371981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C97F72E4-1D9F-EB4B-2C28-F0597CFD8430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B3F95999-4D5E-2B0A-1DF3-5353CFA6F1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llipszis 4">
            <a:extLst>
              <a:ext uri="{FF2B5EF4-FFF2-40B4-BE49-F238E27FC236}">
                <a16:creationId xmlns:a16="http://schemas.microsoft.com/office/drawing/2014/main" id="{50335906-575A-7409-39F9-8E65CA639D3A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D22BB351-A232-F0F2-3F8D-68635F19F854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205;p22">
            <a:extLst>
              <a:ext uri="{FF2B5EF4-FFF2-40B4-BE49-F238E27FC236}">
                <a16:creationId xmlns:a16="http://schemas.microsoft.com/office/drawing/2014/main" id="{746ADBA7-12F8-C598-2B85-37F58B01FC13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12444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  <p:bldP spid="221" grpId="0"/>
      <p:bldP spid="2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1" name="Google Shape;211;p22"/>
          <p:cNvSpPr/>
          <p:nvPr/>
        </p:nvSpPr>
        <p:spPr>
          <a:xfrm>
            <a:off x="2194550" y="2369825"/>
            <a:ext cx="73623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Felhasználóbarát GUI a Cisco eszközök egyszerű kezeléséhez - konfiguráció és monitoring egy helyen.</a:t>
            </a:r>
            <a:endParaRPr sz="1600" b="0" i="0" u="none" strike="noStrike" cap="none" dirty="0"/>
          </a:p>
        </p:txBody>
      </p:sp>
      <p:sp>
        <p:nvSpPr>
          <p:cNvPr id="212" name="Google Shape;212;p22"/>
          <p:cNvSpPr/>
          <p:nvPr/>
        </p:nvSpPr>
        <p:spPr>
          <a:xfrm>
            <a:off x="1257300" y="6394361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6170643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6248986"/>
            <a:ext cx="172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6236922"/>
            <a:ext cx="586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2194550" y="6688780"/>
            <a:ext cx="6217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257300" y="70890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68653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69437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69316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/>
          </a:p>
        </p:txBody>
      </p:sp>
      <p:sp>
        <p:nvSpPr>
          <p:cNvPr id="221" name="Google Shape;221;p22"/>
          <p:cNvSpPr/>
          <p:nvPr/>
        </p:nvSpPr>
        <p:spPr>
          <a:xfrm>
            <a:off x="2194550" y="73834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3057806-2017-0D57-1A66-B00041BA7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36" y="3269218"/>
            <a:ext cx="5533556" cy="2828126"/>
          </a:xfrm>
          <a:prstGeom prst="rect">
            <a:avLst/>
          </a:prstGeom>
        </p:spPr>
      </p:pic>
      <p:sp>
        <p:nvSpPr>
          <p:cNvPr id="8" name="Google Shape;197;p21">
            <a:extLst>
              <a:ext uri="{FF2B5EF4-FFF2-40B4-BE49-F238E27FC236}">
                <a16:creationId xmlns:a16="http://schemas.microsoft.com/office/drawing/2014/main" id="{AA622971-3409-E27A-4AC0-4A287D0A0179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198;p21" title="logo.png">
            <a:extLst>
              <a:ext uri="{FF2B5EF4-FFF2-40B4-BE49-F238E27FC236}">
                <a16:creationId xmlns:a16="http://schemas.microsoft.com/office/drawing/2014/main" id="{5D7928BB-1DF2-15DE-6E73-3052C3C6A3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llipszis 9">
            <a:extLst>
              <a:ext uri="{FF2B5EF4-FFF2-40B4-BE49-F238E27FC236}">
                <a16:creationId xmlns:a16="http://schemas.microsoft.com/office/drawing/2014/main" id="{D4A0E366-F2ED-67DD-D3D3-9E097C13F57C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A2E0EC3E-B52B-1DF3-86EF-B22F996EAB0D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205;p22">
            <a:extLst>
              <a:ext uri="{FF2B5EF4-FFF2-40B4-BE49-F238E27FC236}">
                <a16:creationId xmlns:a16="http://schemas.microsoft.com/office/drawing/2014/main" id="{F818F145-56CA-C088-39DC-EC4AE7A99D5D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81342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1" name="Google Shape;211;p22"/>
          <p:cNvSpPr/>
          <p:nvPr/>
        </p:nvSpPr>
        <p:spPr>
          <a:xfrm>
            <a:off x="2194550" y="2369824"/>
            <a:ext cx="7362300" cy="89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Felhasználóbarát GUI a Cisco eszközök egyszerű kezeléséhez - konfiguráció és monitoring egy helyen.</a:t>
            </a:r>
            <a:endParaRPr sz="1600" b="0" i="0" u="none" strike="noStrike" cap="none" dirty="0"/>
          </a:p>
        </p:txBody>
      </p:sp>
      <p:sp>
        <p:nvSpPr>
          <p:cNvPr id="212" name="Google Shape;212;p22"/>
          <p:cNvSpPr/>
          <p:nvPr/>
        </p:nvSpPr>
        <p:spPr>
          <a:xfrm>
            <a:off x="1257300" y="6394361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6170643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6248986"/>
            <a:ext cx="172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6236922"/>
            <a:ext cx="586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 dirty="0"/>
          </a:p>
        </p:txBody>
      </p:sp>
      <p:sp>
        <p:nvSpPr>
          <p:cNvPr id="216" name="Google Shape;216;p22"/>
          <p:cNvSpPr/>
          <p:nvPr/>
        </p:nvSpPr>
        <p:spPr>
          <a:xfrm>
            <a:off x="2194550" y="6688780"/>
            <a:ext cx="62178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257300" y="70890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68653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69437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69316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/>
          </a:p>
        </p:txBody>
      </p:sp>
      <p:sp>
        <p:nvSpPr>
          <p:cNvPr id="221" name="Google Shape;221;p22"/>
          <p:cNvSpPr/>
          <p:nvPr/>
        </p:nvSpPr>
        <p:spPr>
          <a:xfrm>
            <a:off x="2194550" y="73834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3057806-2017-0D57-1A66-B00041BA7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36" y="3269218"/>
            <a:ext cx="5533556" cy="2828126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ADE8A8ED-0D34-831E-5AD7-1512B9BF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2194536" y="7573465"/>
            <a:ext cx="5533556" cy="2828126"/>
          </a:xfrm>
          <a:prstGeom prst="rect">
            <a:avLst/>
          </a:prstGeom>
        </p:spPr>
      </p:pic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414FD0BF-AF4B-395E-DE16-5086E7787AA1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360A93D7-021C-4673-0604-D230967CE0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llipszis 4">
            <a:extLst>
              <a:ext uri="{FF2B5EF4-FFF2-40B4-BE49-F238E27FC236}">
                <a16:creationId xmlns:a16="http://schemas.microsoft.com/office/drawing/2014/main" id="{8A33C7AE-CDBF-060A-284D-A007876AAF4E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51988118-04DB-1FD5-B889-172CDF1A287D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05;p22">
            <a:extLst>
              <a:ext uri="{FF2B5EF4-FFF2-40B4-BE49-F238E27FC236}">
                <a16:creationId xmlns:a16="http://schemas.microsoft.com/office/drawing/2014/main" id="{AFACB3B0-B734-A732-9FAD-111FEF9DE658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71870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2770791"/>
            <a:ext cx="731400" cy="2508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2524693"/>
            <a:ext cx="470400" cy="51744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2610881"/>
            <a:ext cx="172800" cy="3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2598172"/>
            <a:ext cx="5863500" cy="3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2194550" y="3026375"/>
            <a:ext cx="6217800" cy="8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257300" y="70890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68653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69437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69316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/>
          </a:p>
        </p:txBody>
      </p:sp>
      <p:sp>
        <p:nvSpPr>
          <p:cNvPr id="221" name="Google Shape;221;p22"/>
          <p:cNvSpPr/>
          <p:nvPr/>
        </p:nvSpPr>
        <p:spPr>
          <a:xfrm>
            <a:off x="2194550" y="73834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632C253-9A06-ACCF-3AA6-8624C2BD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36" y="3856200"/>
            <a:ext cx="5533556" cy="2828126"/>
          </a:xfrm>
          <a:prstGeom prst="rect">
            <a:avLst/>
          </a:prstGeom>
        </p:spPr>
      </p:pic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1BF29C7F-AD2A-0FB0-01C9-49E14B55E00D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27A1827C-D62C-A081-1CAC-150DE8CE51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llipszis 4">
            <a:extLst>
              <a:ext uri="{FF2B5EF4-FFF2-40B4-BE49-F238E27FC236}">
                <a16:creationId xmlns:a16="http://schemas.microsoft.com/office/drawing/2014/main" id="{7D839727-492A-27CF-7518-2C01107A0715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C61EC112-49B8-6637-E0F8-267B4E316ABD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05;p22">
            <a:extLst>
              <a:ext uri="{FF2B5EF4-FFF2-40B4-BE49-F238E27FC236}">
                <a16:creationId xmlns:a16="http://schemas.microsoft.com/office/drawing/2014/main" id="{F88B62A0-59FD-6AE4-FB28-B1046EB44F95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046446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2770791"/>
            <a:ext cx="731400" cy="2508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2524693"/>
            <a:ext cx="470400" cy="51744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2610881"/>
            <a:ext cx="172800" cy="3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2598172"/>
            <a:ext cx="5863500" cy="3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2194550" y="3026375"/>
            <a:ext cx="6217800" cy="8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Projektek valós idejű szinkronizálása csapattagok között - közös munkavégzés azonos hálózati konfigurációkon.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257300" y="7089083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6865365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6943708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6931641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/>
          </a:p>
        </p:txBody>
      </p:sp>
      <p:sp>
        <p:nvSpPr>
          <p:cNvPr id="221" name="Google Shape;221;p22"/>
          <p:cNvSpPr/>
          <p:nvPr/>
        </p:nvSpPr>
        <p:spPr>
          <a:xfrm>
            <a:off x="2194550" y="73834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b="0" i="0" u="none" strike="noStrike" cap="none" dirty="0">
              <a:noFill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632C253-9A06-ACCF-3AA6-8624C2BD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36" y="3856200"/>
            <a:ext cx="5533556" cy="2828126"/>
          </a:xfrm>
          <a:prstGeom prst="rect">
            <a:avLst/>
          </a:prstGeom>
        </p:spPr>
      </p:pic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1BF29C7F-AD2A-0FB0-01C9-49E14B55E00D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27A1827C-D62C-A081-1CAC-150DE8CE51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8E885CF-E69B-3FAE-F1DF-8123AA3CC23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</a:blip>
          <a:srcRect/>
          <a:stretch/>
        </p:blipFill>
        <p:spPr>
          <a:xfrm>
            <a:off x="2269216" y="8285128"/>
            <a:ext cx="5384195" cy="2828126"/>
          </a:xfrm>
          <a:prstGeom prst="rect">
            <a:avLst/>
          </a:prstGeom>
        </p:spPr>
      </p:pic>
      <p:sp>
        <p:nvSpPr>
          <p:cNvPr id="6" name="Ellipszis 5">
            <a:extLst>
              <a:ext uri="{FF2B5EF4-FFF2-40B4-BE49-F238E27FC236}">
                <a16:creationId xmlns:a16="http://schemas.microsoft.com/office/drawing/2014/main" id="{1590F1BB-3731-4CE4-78DC-2E072961F635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6078B4A2-0449-BE8B-4C4B-8CFBC8D17244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05;p22">
            <a:extLst>
              <a:ext uri="{FF2B5EF4-FFF2-40B4-BE49-F238E27FC236}">
                <a16:creationId xmlns:a16="http://schemas.microsoft.com/office/drawing/2014/main" id="{9F229608-E811-B88F-AC59-B2BD91F7F1B8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63587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2770791"/>
            <a:ext cx="731400" cy="2508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2524693"/>
            <a:ext cx="470400" cy="51744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2610881"/>
            <a:ext cx="172800" cy="3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2598172"/>
            <a:ext cx="5863500" cy="3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7" name="Google Shape;217;p22"/>
          <p:cNvSpPr/>
          <p:nvPr/>
        </p:nvSpPr>
        <p:spPr>
          <a:xfrm>
            <a:off x="1257300" y="3479108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3255390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3333733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3321666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 dirty="0"/>
          </a:p>
        </p:txBody>
      </p:sp>
      <p:sp>
        <p:nvSpPr>
          <p:cNvPr id="221" name="Google Shape;221;p22"/>
          <p:cNvSpPr/>
          <p:nvPr/>
        </p:nvSpPr>
        <p:spPr>
          <a:xfrm>
            <a:off x="2194550" y="38020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1BF29C7F-AD2A-0FB0-01C9-49E14B55E00D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27A1827C-D62C-A081-1CAC-150DE8CE51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A2B36AF-32B1-83D7-8AD6-77B024579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9216" y="4713253"/>
            <a:ext cx="5384195" cy="2828126"/>
          </a:xfrm>
          <a:prstGeom prst="rect">
            <a:avLst/>
          </a:prstGeom>
        </p:spPr>
      </p:pic>
      <p:sp>
        <p:nvSpPr>
          <p:cNvPr id="7" name="Ellipszis 6">
            <a:extLst>
              <a:ext uri="{FF2B5EF4-FFF2-40B4-BE49-F238E27FC236}">
                <a16:creationId xmlns:a16="http://schemas.microsoft.com/office/drawing/2014/main" id="{5EF4B8C1-C6D0-9E69-1CD2-7FE93751E5DB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C5C47E16-4199-DEA0-28E1-8B5D093FEF82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205;p22">
            <a:extLst>
              <a:ext uri="{FF2B5EF4-FFF2-40B4-BE49-F238E27FC236}">
                <a16:creationId xmlns:a16="http://schemas.microsoft.com/office/drawing/2014/main" id="{166C46DF-A16F-60CB-E34C-08E143DF93FC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603271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2770791"/>
            <a:ext cx="731400" cy="2508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2524693"/>
            <a:ext cx="470400" cy="51744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2610881"/>
            <a:ext cx="172800" cy="3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2598172"/>
            <a:ext cx="5863500" cy="3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7" name="Google Shape;217;p22"/>
          <p:cNvSpPr/>
          <p:nvPr/>
        </p:nvSpPr>
        <p:spPr>
          <a:xfrm>
            <a:off x="1257300" y="3479108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3255390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3333733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3321666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 dirty="0"/>
          </a:p>
        </p:txBody>
      </p:sp>
      <p:sp>
        <p:nvSpPr>
          <p:cNvPr id="221" name="Google Shape;221;p22"/>
          <p:cNvSpPr/>
          <p:nvPr/>
        </p:nvSpPr>
        <p:spPr>
          <a:xfrm>
            <a:off x="2194550" y="3802096"/>
            <a:ext cx="62178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Több projekt párhuzamos kezelése, konfigurációk mentése és visszaállítása egyetlen kattintással.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257300" y="7783042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7559324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7637667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7625605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8077487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noFill/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noFill/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noFill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1BF29C7F-AD2A-0FB0-01C9-49E14B55E00D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27A1827C-D62C-A081-1CAC-150DE8CE51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A2B36AF-32B1-83D7-8AD6-77B024579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9216" y="4713253"/>
            <a:ext cx="5384195" cy="2828126"/>
          </a:xfrm>
          <a:prstGeom prst="rect">
            <a:avLst/>
          </a:prstGeom>
        </p:spPr>
      </p:pic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D3DD2559-BEDF-DDC7-6360-2F8EE71D49F5}"/>
              </a:ext>
            </a:extLst>
          </p:cNvPr>
          <p:cNvGrpSpPr/>
          <p:nvPr/>
        </p:nvGrpSpPr>
        <p:grpSpPr>
          <a:xfrm>
            <a:off x="1552575" y="9781122"/>
            <a:ext cx="5374125" cy="840213"/>
            <a:chOff x="1552575" y="6152097"/>
            <a:chExt cx="4276725" cy="840213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FEDCDB70-946B-DAEE-1CB9-CCA94A1342E4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7" name="Picture 2" descr="Flutter Logo Download png">
              <a:extLst>
                <a:ext uri="{FF2B5EF4-FFF2-40B4-BE49-F238E27FC236}">
                  <a16:creationId xmlns:a16="http://schemas.microsoft.com/office/drawing/2014/main" id="{D58413AB-7E92-303B-1E83-55F21D166DC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000" y="6272783"/>
              <a:ext cx="475570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238A4BC1-8BDF-FFB0-1525-058262A06A09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Flutter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1F141D63-BBDF-F47D-DE71-BFD5B74960E9}"/>
              </a:ext>
            </a:extLst>
          </p:cNvPr>
          <p:cNvGrpSpPr/>
          <p:nvPr/>
        </p:nvGrpSpPr>
        <p:grpSpPr>
          <a:xfrm>
            <a:off x="1407567" y="10780420"/>
            <a:ext cx="6248276" cy="840213"/>
            <a:chOff x="1437179" y="6152097"/>
            <a:chExt cx="4972374" cy="840213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857F8CD7-51C3-9F4D-8A33-EFFD45964888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65FB538C-0EF9-42DC-EA12-C04D54F5C21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1437179" y="6272782"/>
              <a:ext cx="847211" cy="59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Szövegdoboz 11">
              <a:extLst>
                <a:ext uri="{FF2B5EF4-FFF2-40B4-BE49-F238E27FC236}">
                  <a16:creationId xmlns:a16="http://schemas.microsoft.com/office/drawing/2014/main" id="{C361E4A4-3668-7DDC-9711-B6513DD7B5D4}"/>
                </a:ext>
              </a:extLst>
            </p:cNvPr>
            <p:cNvSpPr txBox="1"/>
            <p:nvPr/>
          </p:nvSpPr>
          <p:spPr>
            <a:xfrm>
              <a:off x="2203253" y="6249036"/>
              <a:ext cx="4206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Python &amp; </a:t>
              </a:r>
              <a:r>
                <a:rPr lang="en-US" sz="3600" b="1" dirty="0" err="1">
                  <a:solidFill>
                    <a:schemeClr val="bg1"/>
                  </a:solidFill>
                </a:rPr>
                <a:t>Netmiko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4A16E92C-D096-3D2F-0E27-3AE82CB2D1C7}"/>
              </a:ext>
            </a:extLst>
          </p:cNvPr>
          <p:cNvGrpSpPr/>
          <p:nvPr/>
        </p:nvGrpSpPr>
        <p:grpSpPr>
          <a:xfrm>
            <a:off x="7096124" y="9781122"/>
            <a:ext cx="4276725" cy="840213"/>
            <a:chOff x="1552575" y="6152097"/>
            <a:chExt cx="4276725" cy="840213"/>
          </a:xfrm>
        </p:grpSpPr>
        <p:sp>
          <p:nvSpPr>
            <p:cNvPr id="14" name="Téglalap: lekerekített 13">
              <a:extLst>
                <a:ext uri="{FF2B5EF4-FFF2-40B4-BE49-F238E27FC236}">
                  <a16:creationId xmlns:a16="http://schemas.microsoft.com/office/drawing/2014/main" id="{57A05C65-3909-B924-B5C0-F97A1293FD4B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F473E0F4-E66A-0498-C6E6-119487A61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1623000" y="6272783"/>
              <a:ext cx="598839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1F0A19EA-19DC-9CED-AB73-DB6E172E8574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Dart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241E9952-5CEB-4AF0-EE8D-AE7F6820A5AD}"/>
              </a:ext>
            </a:extLst>
          </p:cNvPr>
          <p:cNvGrpSpPr/>
          <p:nvPr/>
        </p:nvGrpSpPr>
        <p:grpSpPr>
          <a:xfrm>
            <a:off x="7096123" y="10780420"/>
            <a:ext cx="4276725" cy="840213"/>
            <a:chOff x="1552575" y="6152097"/>
            <a:chExt cx="4276725" cy="840213"/>
          </a:xfrm>
        </p:grpSpPr>
        <p:sp>
          <p:nvSpPr>
            <p:cNvPr id="18" name="Téglalap: lekerekített 17">
              <a:extLst>
                <a:ext uri="{FF2B5EF4-FFF2-40B4-BE49-F238E27FC236}">
                  <a16:creationId xmlns:a16="http://schemas.microsoft.com/office/drawing/2014/main" id="{55F1F010-FBAD-FBE6-445C-389CC74FC8F4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6FC559D5-7EB7-5344-15B3-0967CA03F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/>
          </p:blipFill>
          <p:spPr bwMode="auto">
            <a:xfrm>
              <a:off x="1623000" y="6272783"/>
              <a:ext cx="598839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Szövegdoboz 19">
              <a:extLst>
                <a:ext uri="{FF2B5EF4-FFF2-40B4-BE49-F238E27FC236}">
                  <a16:creationId xmlns:a16="http://schemas.microsoft.com/office/drawing/2014/main" id="{9F8F19FE-121F-A12D-9CBC-43F92449D950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RPC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Ellipszis 20">
            <a:extLst>
              <a:ext uri="{FF2B5EF4-FFF2-40B4-BE49-F238E27FC236}">
                <a16:creationId xmlns:a16="http://schemas.microsoft.com/office/drawing/2014/main" id="{FD3869E3-2D45-4FA9-AC27-EA5B222DE096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D8A8C335-9575-7845-36D8-6C4B0E064CFF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205;p22">
            <a:extLst>
              <a:ext uri="{FF2B5EF4-FFF2-40B4-BE49-F238E27FC236}">
                <a16:creationId xmlns:a16="http://schemas.microsoft.com/office/drawing/2014/main" id="{7F3348F3-6738-C305-E104-D8E9066270D7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242480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1033575" y="1709025"/>
            <a:ext cx="22800" cy="65205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257300" y="2075414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9863" y="1851696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84052" y="1930039"/>
            <a:ext cx="121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4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2194560" y="1917978"/>
            <a:ext cx="2936915" cy="32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Grafikus Felület</a:t>
            </a:r>
            <a:endParaRPr sz="20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257300" y="2770791"/>
            <a:ext cx="731400" cy="2508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09863" y="2524693"/>
            <a:ext cx="470400" cy="51744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958572" y="2610881"/>
            <a:ext cx="172800" cy="34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450" b="0" i="0" u="none" strike="noStrike" cap="none" dirty="0"/>
          </a:p>
        </p:txBody>
      </p:sp>
      <p:sp>
        <p:nvSpPr>
          <p:cNvPr id="215" name="Google Shape;215;p22"/>
          <p:cNvSpPr/>
          <p:nvPr/>
        </p:nvSpPr>
        <p:spPr>
          <a:xfrm>
            <a:off x="2194550" y="2598172"/>
            <a:ext cx="5863500" cy="35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Csapat Szinkronizáció</a:t>
            </a:r>
            <a:endParaRPr sz="2050" b="0" i="0" u="none" strike="noStrike" cap="none"/>
          </a:p>
        </p:txBody>
      </p:sp>
      <p:sp>
        <p:nvSpPr>
          <p:cNvPr id="217" name="Google Shape;217;p22"/>
          <p:cNvSpPr/>
          <p:nvPr/>
        </p:nvSpPr>
        <p:spPr>
          <a:xfrm>
            <a:off x="1257300" y="3479108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09863" y="3255390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954524" y="3333733"/>
            <a:ext cx="180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4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2194536" y="3321666"/>
            <a:ext cx="633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Projekt &amp; Konfiguráció Kezelés</a:t>
            </a:r>
            <a:endParaRPr sz="2050" b="0" i="0" u="none" strike="noStrike" cap="none" dirty="0"/>
          </a:p>
        </p:txBody>
      </p:sp>
      <p:sp>
        <p:nvSpPr>
          <p:cNvPr id="222" name="Google Shape;222;p22"/>
          <p:cNvSpPr/>
          <p:nvPr/>
        </p:nvSpPr>
        <p:spPr>
          <a:xfrm>
            <a:off x="1257300" y="4173067"/>
            <a:ext cx="731400" cy="22800"/>
          </a:xfrm>
          <a:prstGeom prst="roundRect">
            <a:avLst>
              <a:gd name="adj" fmla="val 137154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09863" y="3949349"/>
            <a:ext cx="470400" cy="4704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949881" y="4027692"/>
            <a:ext cx="190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50"/>
              <a:buFont typeface="Instrument Sans Medium"/>
              <a:buNone/>
            </a:pPr>
            <a:r>
              <a:rPr lang="en" sz="245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450" b="0" i="0" u="none" strike="noStrike" cap="none" dirty="0"/>
          </a:p>
        </p:txBody>
      </p:sp>
      <p:sp>
        <p:nvSpPr>
          <p:cNvPr id="225" name="Google Shape;225;p22"/>
          <p:cNvSpPr/>
          <p:nvPr/>
        </p:nvSpPr>
        <p:spPr>
          <a:xfrm>
            <a:off x="2194560" y="4015630"/>
            <a:ext cx="261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50"/>
              <a:buFont typeface="Instrument Sans Medium"/>
              <a:buNone/>
            </a:pPr>
            <a:r>
              <a:rPr lang="en" sz="205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Technológiai Stack</a:t>
            </a:r>
            <a:endParaRPr sz="2050" b="0" i="0" u="none" strike="noStrike" cap="none"/>
          </a:p>
        </p:txBody>
      </p:sp>
      <p:sp>
        <p:nvSpPr>
          <p:cNvPr id="226" name="Google Shape;226;p22"/>
          <p:cNvSpPr/>
          <p:nvPr/>
        </p:nvSpPr>
        <p:spPr>
          <a:xfrm>
            <a:off x="2194550" y="4467512"/>
            <a:ext cx="6217800" cy="1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Flutter (cross-platform GUI)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Python + Netmiko szerver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Saját réteg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Dart → Python parancsfordítás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Open Sans"/>
              <a:buNone/>
            </a:pPr>
            <a:r>
              <a:rPr lang="en" sz="1600" b="1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Kommunikáció</a:t>
            </a:r>
            <a:r>
              <a:rPr lang="en" sz="160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: RPC protokoll</a:t>
            </a:r>
            <a:endParaRPr sz="1600" dirty="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7;p21">
            <a:extLst>
              <a:ext uri="{FF2B5EF4-FFF2-40B4-BE49-F238E27FC236}">
                <a16:creationId xmlns:a16="http://schemas.microsoft.com/office/drawing/2014/main" id="{1BF29C7F-AD2A-0FB0-01C9-49E14B55E00D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198;p21" title="logo.png">
            <a:extLst>
              <a:ext uri="{FF2B5EF4-FFF2-40B4-BE49-F238E27FC236}">
                <a16:creationId xmlns:a16="http://schemas.microsoft.com/office/drawing/2014/main" id="{27A1827C-D62C-A081-1CAC-150DE8CE51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2C20927E-012D-18BB-6535-00C6E100EF5C}"/>
              </a:ext>
            </a:extLst>
          </p:cNvPr>
          <p:cNvGrpSpPr/>
          <p:nvPr/>
        </p:nvGrpSpPr>
        <p:grpSpPr>
          <a:xfrm>
            <a:off x="1552575" y="6152097"/>
            <a:ext cx="5374125" cy="840213"/>
            <a:chOff x="1552575" y="6152097"/>
            <a:chExt cx="4276725" cy="840213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8775F407-C147-30CD-09D0-66357A32E536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026" name="Picture 2" descr="Flutter Logo Download png">
              <a:extLst>
                <a:ext uri="{FF2B5EF4-FFF2-40B4-BE49-F238E27FC236}">
                  <a16:creationId xmlns:a16="http://schemas.microsoft.com/office/drawing/2014/main" id="{2E14FBF6-2DAA-007A-C11A-63047E226D5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000" y="6272783"/>
              <a:ext cx="475570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F2DAE578-67F6-7618-8999-100A3A4CDC36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Flutter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5AC6B15E-B860-CF03-B0F9-FAE7F60E7985}"/>
              </a:ext>
            </a:extLst>
          </p:cNvPr>
          <p:cNvGrpSpPr/>
          <p:nvPr/>
        </p:nvGrpSpPr>
        <p:grpSpPr>
          <a:xfrm>
            <a:off x="1407567" y="7151395"/>
            <a:ext cx="6248276" cy="840213"/>
            <a:chOff x="1437179" y="6152097"/>
            <a:chExt cx="4972374" cy="840213"/>
          </a:xfrm>
        </p:grpSpPr>
        <p:sp>
          <p:nvSpPr>
            <p:cNvPr id="21" name="Téglalap: lekerekített 20">
              <a:extLst>
                <a:ext uri="{FF2B5EF4-FFF2-40B4-BE49-F238E27FC236}">
                  <a16:creationId xmlns:a16="http://schemas.microsoft.com/office/drawing/2014/main" id="{C544B64F-1734-1C85-288E-9EE2254C4743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CCF8F89B-7AC1-6F58-3BD8-03E203DE8D3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1437179" y="6272782"/>
              <a:ext cx="847211" cy="59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7A919370-C68D-3F1E-C1FB-7F0937163B6E}"/>
                </a:ext>
              </a:extLst>
            </p:cNvPr>
            <p:cNvSpPr txBox="1"/>
            <p:nvPr/>
          </p:nvSpPr>
          <p:spPr>
            <a:xfrm>
              <a:off x="2203253" y="6249036"/>
              <a:ext cx="4206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Python &amp; </a:t>
              </a:r>
              <a:r>
                <a:rPr lang="en-US" sz="3600" b="1" dirty="0" err="1">
                  <a:solidFill>
                    <a:schemeClr val="bg1"/>
                  </a:solidFill>
                </a:rPr>
                <a:t>Netmiko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A68F3A38-6509-47A8-3D65-448FC7B0590A}"/>
              </a:ext>
            </a:extLst>
          </p:cNvPr>
          <p:cNvGrpSpPr/>
          <p:nvPr/>
        </p:nvGrpSpPr>
        <p:grpSpPr>
          <a:xfrm>
            <a:off x="7096124" y="6152097"/>
            <a:ext cx="4276725" cy="840213"/>
            <a:chOff x="1552575" y="6152097"/>
            <a:chExt cx="4276725" cy="840213"/>
          </a:xfrm>
        </p:grpSpPr>
        <p:sp>
          <p:nvSpPr>
            <p:cNvPr id="25" name="Téglalap: lekerekített 24">
              <a:extLst>
                <a:ext uri="{FF2B5EF4-FFF2-40B4-BE49-F238E27FC236}">
                  <a16:creationId xmlns:a16="http://schemas.microsoft.com/office/drawing/2014/main" id="{47606AD3-B627-7A99-8DA4-095E55415B61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47A0DCB4-11DE-F170-188A-9B965DFB21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1623000" y="6272783"/>
              <a:ext cx="598839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093CCB3E-D595-E493-5576-38C4DF9D1ECD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Dart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7156CA65-3710-A803-3351-C545A8573C62}"/>
              </a:ext>
            </a:extLst>
          </p:cNvPr>
          <p:cNvGrpSpPr/>
          <p:nvPr/>
        </p:nvGrpSpPr>
        <p:grpSpPr>
          <a:xfrm>
            <a:off x="7096123" y="7151395"/>
            <a:ext cx="4276725" cy="840213"/>
            <a:chOff x="1552575" y="6152097"/>
            <a:chExt cx="4276725" cy="840213"/>
          </a:xfrm>
        </p:grpSpPr>
        <p:sp>
          <p:nvSpPr>
            <p:cNvPr id="29" name="Téglalap: lekerekített 28">
              <a:extLst>
                <a:ext uri="{FF2B5EF4-FFF2-40B4-BE49-F238E27FC236}">
                  <a16:creationId xmlns:a16="http://schemas.microsoft.com/office/drawing/2014/main" id="{200F10BB-E4E6-C0AF-751A-336C3FD909C7}"/>
                </a:ext>
              </a:extLst>
            </p:cNvPr>
            <p:cNvSpPr/>
            <p:nvPr/>
          </p:nvSpPr>
          <p:spPr>
            <a:xfrm>
              <a:off x="1552575" y="6152097"/>
              <a:ext cx="4276725" cy="840213"/>
            </a:xfrm>
            <a:prstGeom prst="roundRect">
              <a:avLst>
                <a:gd name="adj" fmla="val 6771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7C920261-532D-D5BE-BD21-136CC0EA9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1623000" y="6272783"/>
              <a:ext cx="598839" cy="59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BB8B03B4-32A9-BD06-4B11-EF6B03BD78E3}"/>
                </a:ext>
              </a:extLst>
            </p:cNvPr>
            <p:cNvSpPr txBox="1"/>
            <p:nvPr/>
          </p:nvSpPr>
          <p:spPr>
            <a:xfrm>
              <a:off x="2203253" y="6249036"/>
              <a:ext cx="17210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RPC</a:t>
              </a:r>
              <a:endParaRPr lang="hu-HU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Google Shape;59;p13">
            <a:extLst>
              <a:ext uri="{FF2B5EF4-FFF2-40B4-BE49-F238E27FC236}">
                <a16:creationId xmlns:a16="http://schemas.microsoft.com/office/drawing/2014/main" id="{846A396F-FD60-FDA5-E0EE-1811A3228C59}"/>
              </a:ext>
            </a:extLst>
          </p:cNvPr>
          <p:cNvSpPr/>
          <p:nvPr/>
        </p:nvSpPr>
        <p:spPr>
          <a:xfrm>
            <a:off x="6280190" y="106309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60;p13">
            <a:extLst>
              <a:ext uri="{FF2B5EF4-FFF2-40B4-BE49-F238E27FC236}">
                <a16:creationId xmlns:a16="http://schemas.microsoft.com/office/drawing/2014/main" id="{659FDE9E-6A84-418E-978B-9208916625F9}"/>
              </a:ext>
            </a:extLst>
          </p:cNvPr>
          <p:cNvSpPr/>
          <p:nvPr/>
        </p:nvSpPr>
        <p:spPr>
          <a:xfrm>
            <a:off x="6469142" y="10715923"/>
            <a:ext cx="132398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650"/>
              <a:buFont typeface="Instrument Sans Medium"/>
              <a:buNone/>
            </a:pPr>
            <a:r>
              <a:rPr lang="en" sz="26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</a:t>
            </a:r>
            <a:endParaRPr sz="2650" b="0" i="0" u="none" strike="noStrike" cap="none"/>
          </a:p>
        </p:txBody>
      </p:sp>
      <p:sp>
        <p:nvSpPr>
          <p:cNvPr id="35" name="Google Shape;61;p13">
            <a:extLst>
              <a:ext uri="{FF2B5EF4-FFF2-40B4-BE49-F238E27FC236}">
                <a16:creationId xmlns:a16="http://schemas.microsoft.com/office/drawing/2014/main" id="{9C68F872-BEAC-2D5C-B801-98CEE382C90F}"/>
              </a:ext>
            </a:extLst>
          </p:cNvPr>
          <p:cNvSpPr/>
          <p:nvPr/>
        </p:nvSpPr>
        <p:spPr>
          <a:xfrm>
            <a:off x="7017306" y="10630913"/>
            <a:ext cx="292774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Instrument Sans Medium"/>
              <a:buNone/>
            </a:pPr>
            <a:r>
              <a:rPr lang="en" sz="220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Iroda</a:t>
            </a:r>
            <a:endParaRPr sz="2200" b="0" i="0" u="none" strike="noStrike" cap="none" dirty="0"/>
          </a:p>
        </p:txBody>
      </p:sp>
      <p:sp>
        <p:nvSpPr>
          <p:cNvPr id="36" name="Google Shape;62;p13">
            <a:extLst>
              <a:ext uri="{FF2B5EF4-FFF2-40B4-BE49-F238E27FC236}">
                <a16:creationId xmlns:a16="http://schemas.microsoft.com/office/drawing/2014/main" id="{9897ED41-55E4-FA1A-9CFD-52F8630218B7}"/>
              </a:ext>
            </a:extLst>
          </p:cNvPr>
          <p:cNvSpPr/>
          <p:nvPr/>
        </p:nvSpPr>
        <p:spPr>
          <a:xfrm>
            <a:off x="7022606" y="11141214"/>
            <a:ext cx="2927747" cy="143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AutoNum type="arabicPeriod"/>
            </a:pPr>
            <a:r>
              <a:rPr lang="en" sz="175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Emelet tech support</a:t>
            </a:r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AutoNum type="arabicPeriod"/>
            </a:pPr>
            <a:r>
              <a:rPr lang="en" sz="1750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Emelet Programozók</a:t>
            </a:r>
          </a:p>
          <a:p>
            <a:pPr marR="0" lvl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</a:pPr>
            <a:r>
              <a:rPr lang="en" sz="17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+    Rendszergazda</a:t>
            </a:r>
            <a:endParaRPr sz="1750" b="0" i="0" u="none" strike="noStrike" cap="none" dirty="0"/>
          </a:p>
        </p:txBody>
      </p:sp>
      <p:sp>
        <p:nvSpPr>
          <p:cNvPr id="37" name="Google Shape;63;p13">
            <a:extLst>
              <a:ext uri="{FF2B5EF4-FFF2-40B4-BE49-F238E27FC236}">
                <a16:creationId xmlns:a16="http://schemas.microsoft.com/office/drawing/2014/main" id="{19C306C8-FAAE-DD7B-35F2-7ADB76C9474C}"/>
              </a:ext>
            </a:extLst>
          </p:cNvPr>
          <p:cNvSpPr/>
          <p:nvPr/>
        </p:nvSpPr>
        <p:spPr>
          <a:xfrm>
            <a:off x="10171867" y="106309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64;p13">
            <a:extLst>
              <a:ext uri="{FF2B5EF4-FFF2-40B4-BE49-F238E27FC236}">
                <a16:creationId xmlns:a16="http://schemas.microsoft.com/office/drawing/2014/main" id="{FF23CEA5-4659-B28F-20F3-169DD723F281}"/>
              </a:ext>
            </a:extLst>
          </p:cNvPr>
          <p:cNvSpPr/>
          <p:nvPr/>
        </p:nvSpPr>
        <p:spPr>
          <a:xfrm>
            <a:off x="10333196" y="10715923"/>
            <a:ext cx="187523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650"/>
              <a:buFont typeface="Instrument Sans Medium"/>
              <a:buNone/>
            </a:pPr>
            <a:r>
              <a:rPr lang="en" sz="26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2</a:t>
            </a:r>
            <a:endParaRPr sz="2650" b="0" i="0" u="none" strike="noStrike" cap="none"/>
          </a:p>
        </p:txBody>
      </p:sp>
      <p:sp>
        <p:nvSpPr>
          <p:cNvPr id="39" name="Google Shape;65;p13">
            <a:extLst>
              <a:ext uri="{FF2B5EF4-FFF2-40B4-BE49-F238E27FC236}">
                <a16:creationId xmlns:a16="http://schemas.microsoft.com/office/drawing/2014/main" id="{7501316C-66C9-3EEE-0AA6-286409B5BA7C}"/>
              </a:ext>
            </a:extLst>
          </p:cNvPr>
          <p:cNvSpPr/>
          <p:nvPr/>
        </p:nvSpPr>
        <p:spPr>
          <a:xfrm>
            <a:off x="10908983" y="106309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Instrument Sans Medium"/>
              <a:buNone/>
            </a:pPr>
            <a:r>
              <a:rPr lang="en" sz="220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Szerverterem</a:t>
            </a:r>
            <a:endParaRPr sz="2200" b="0" i="0" u="none" strike="noStrike" cap="none" dirty="0"/>
          </a:p>
        </p:txBody>
      </p:sp>
      <p:sp>
        <p:nvSpPr>
          <p:cNvPr id="40" name="Google Shape;66;p13">
            <a:extLst>
              <a:ext uri="{FF2B5EF4-FFF2-40B4-BE49-F238E27FC236}">
                <a16:creationId xmlns:a16="http://schemas.microsoft.com/office/drawing/2014/main" id="{EDA28E11-68E7-CA2D-BF87-4DA4DD59B0F0}"/>
              </a:ext>
            </a:extLst>
          </p:cNvPr>
          <p:cNvSpPr/>
          <p:nvPr/>
        </p:nvSpPr>
        <p:spPr>
          <a:xfrm>
            <a:off x="10908983" y="11121331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None/>
            </a:pPr>
            <a:r>
              <a:rPr lang="en" sz="17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Publikus &amp; Dolgozói weboldal, Adatbázis, etc…</a:t>
            </a:r>
            <a:endParaRPr sz="1750" b="0" i="0" u="none" strike="noStrike" cap="none" dirty="0"/>
          </a:p>
        </p:txBody>
      </p:sp>
      <p:sp>
        <p:nvSpPr>
          <p:cNvPr id="41" name="Google Shape;67;p13">
            <a:extLst>
              <a:ext uri="{FF2B5EF4-FFF2-40B4-BE49-F238E27FC236}">
                <a16:creationId xmlns:a16="http://schemas.microsoft.com/office/drawing/2014/main" id="{18E4E87E-8761-D292-1E1B-4163079B80C7}"/>
              </a:ext>
            </a:extLst>
          </p:cNvPr>
          <p:cNvSpPr/>
          <p:nvPr/>
        </p:nvSpPr>
        <p:spPr>
          <a:xfrm>
            <a:off x="6280190" y="130549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68;p13">
            <a:extLst>
              <a:ext uri="{FF2B5EF4-FFF2-40B4-BE49-F238E27FC236}">
                <a16:creationId xmlns:a16="http://schemas.microsoft.com/office/drawing/2014/main" id="{D634A841-3FC0-64BF-3416-D69C6B930866}"/>
              </a:ext>
            </a:extLst>
          </p:cNvPr>
          <p:cNvSpPr/>
          <p:nvPr/>
        </p:nvSpPr>
        <p:spPr>
          <a:xfrm>
            <a:off x="6437114" y="13139916"/>
            <a:ext cx="196334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650"/>
              <a:buFont typeface="Instrument Sans Medium"/>
              <a:buNone/>
            </a:pPr>
            <a:r>
              <a:rPr lang="en" sz="26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</a:t>
            </a:r>
            <a:endParaRPr sz="2650" b="0" i="0" u="none" strike="noStrike" cap="none"/>
          </a:p>
        </p:txBody>
      </p:sp>
      <p:sp>
        <p:nvSpPr>
          <p:cNvPr id="43" name="Google Shape;69;p13">
            <a:extLst>
              <a:ext uri="{FF2B5EF4-FFF2-40B4-BE49-F238E27FC236}">
                <a16:creationId xmlns:a16="http://schemas.microsoft.com/office/drawing/2014/main" id="{03424C99-8D4F-F9F2-6714-A68360FFC535}"/>
              </a:ext>
            </a:extLst>
          </p:cNvPr>
          <p:cNvSpPr/>
          <p:nvPr/>
        </p:nvSpPr>
        <p:spPr>
          <a:xfrm>
            <a:off x="7017306" y="13054907"/>
            <a:ext cx="292774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Instrument Sans Medium"/>
              <a:buNone/>
            </a:pPr>
            <a:r>
              <a:rPr lang="en" sz="220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Raktár</a:t>
            </a:r>
            <a:endParaRPr sz="2200" b="0" i="0" u="none" strike="noStrike" cap="none" dirty="0"/>
          </a:p>
        </p:txBody>
      </p:sp>
      <p:sp>
        <p:nvSpPr>
          <p:cNvPr id="44" name="Google Shape;70;p13">
            <a:extLst>
              <a:ext uri="{FF2B5EF4-FFF2-40B4-BE49-F238E27FC236}">
                <a16:creationId xmlns:a16="http://schemas.microsoft.com/office/drawing/2014/main" id="{0272E170-A409-8E9E-39F5-1920005E702F}"/>
              </a:ext>
            </a:extLst>
          </p:cNvPr>
          <p:cNvSpPr/>
          <p:nvPr/>
        </p:nvSpPr>
        <p:spPr>
          <a:xfrm>
            <a:off x="7022606" y="13565207"/>
            <a:ext cx="2927747" cy="51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None/>
            </a:pPr>
            <a:r>
              <a:rPr lang="en" sz="17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Vezeték nélküli hálózat, AAA</a:t>
            </a:r>
            <a:endParaRPr sz="1750" b="0" i="0" u="none" strike="noStrike" cap="none" dirty="0"/>
          </a:p>
        </p:txBody>
      </p:sp>
      <p:sp>
        <p:nvSpPr>
          <p:cNvPr id="45" name="Google Shape;71;p13">
            <a:extLst>
              <a:ext uri="{FF2B5EF4-FFF2-40B4-BE49-F238E27FC236}">
                <a16:creationId xmlns:a16="http://schemas.microsoft.com/office/drawing/2014/main" id="{0887D320-B46E-921E-CD9B-90C6AC22DADA}"/>
              </a:ext>
            </a:extLst>
          </p:cNvPr>
          <p:cNvSpPr/>
          <p:nvPr/>
        </p:nvSpPr>
        <p:spPr>
          <a:xfrm>
            <a:off x="10171867" y="130549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141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72;p13">
            <a:extLst>
              <a:ext uri="{FF2B5EF4-FFF2-40B4-BE49-F238E27FC236}">
                <a16:creationId xmlns:a16="http://schemas.microsoft.com/office/drawing/2014/main" id="{BE513F05-C1FD-A0E3-EF60-599DEA660D11}"/>
              </a:ext>
            </a:extLst>
          </p:cNvPr>
          <p:cNvSpPr/>
          <p:nvPr/>
        </p:nvSpPr>
        <p:spPr>
          <a:xfrm>
            <a:off x="10323671" y="13139916"/>
            <a:ext cx="206573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650"/>
              <a:buFont typeface="Instrument Sans Medium"/>
              <a:buNone/>
            </a:pPr>
            <a:r>
              <a:rPr lang="en" sz="26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4</a:t>
            </a:r>
            <a:endParaRPr sz="2650" b="0" i="0" u="none" strike="noStrike" cap="none"/>
          </a:p>
        </p:txBody>
      </p:sp>
      <p:sp>
        <p:nvSpPr>
          <p:cNvPr id="47" name="Google Shape;73;p13">
            <a:extLst>
              <a:ext uri="{FF2B5EF4-FFF2-40B4-BE49-F238E27FC236}">
                <a16:creationId xmlns:a16="http://schemas.microsoft.com/office/drawing/2014/main" id="{7D03D492-8F1C-A979-6C7E-12D13F2E5508}"/>
              </a:ext>
            </a:extLst>
          </p:cNvPr>
          <p:cNvSpPr/>
          <p:nvPr/>
        </p:nvSpPr>
        <p:spPr>
          <a:xfrm>
            <a:off x="10908983" y="13054907"/>
            <a:ext cx="292774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Instrument Sans Medium"/>
              <a:buNone/>
            </a:pPr>
            <a:r>
              <a:rPr lang="en" sz="2200" b="0" i="0" u="none" strike="noStrike" cap="none" dirty="0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Csomagpont</a:t>
            </a:r>
            <a:endParaRPr sz="2200" b="0" i="0" u="none" strike="noStrike" cap="none" dirty="0"/>
          </a:p>
        </p:txBody>
      </p:sp>
      <p:sp>
        <p:nvSpPr>
          <p:cNvPr id="48" name="Google Shape;74;p13">
            <a:extLst>
              <a:ext uri="{FF2B5EF4-FFF2-40B4-BE49-F238E27FC236}">
                <a16:creationId xmlns:a16="http://schemas.microsoft.com/office/drawing/2014/main" id="{86F8BC38-B9B3-7B49-D4EC-BB5B7FE2D80E}"/>
              </a:ext>
            </a:extLst>
          </p:cNvPr>
          <p:cNvSpPr/>
          <p:nvPr/>
        </p:nvSpPr>
        <p:spPr>
          <a:xfrm>
            <a:off x="10914283" y="13565207"/>
            <a:ext cx="2927747" cy="51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750"/>
              <a:buFont typeface="Open Sans"/>
              <a:buNone/>
            </a:pPr>
            <a:r>
              <a:rPr lang="en" sz="17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IOT</a:t>
            </a:r>
            <a:endParaRPr sz="1750" b="0" i="0" u="none" strike="noStrike" cap="none" dirty="0"/>
          </a:p>
        </p:txBody>
      </p: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A666B8A0-FA88-D287-71A3-1B1ED12AD496}"/>
              </a:ext>
            </a:extLst>
          </p:cNvPr>
          <p:cNvGrpSpPr/>
          <p:nvPr/>
        </p:nvGrpSpPr>
        <p:grpSpPr>
          <a:xfrm>
            <a:off x="120165" y="9029200"/>
            <a:ext cx="5613998" cy="3145201"/>
            <a:chOff x="120165" y="804898"/>
            <a:chExt cx="5613998" cy="3145201"/>
          </a:xfrm>
        </p:grpSpPr>
        <p:sp>
          <p:nvSpPr>
            <p:cNvPr id="53" name="Téglalap: lekerekített 52">
              <a:extLst>
                <a:ext uri="{FF2B5EF4-FFF2-40B4-BE49-F238E27FC236}">
                  <a16:creationId xmlns:a16="http://schemas.microsoft.com/office/drawing/2014/main" id="{067AE625-2A58-D150-CDA9-3908B7A4055B}"/>
                </a:ext>
              </a:extLst>
            </p:cNvPr>
            <p:cNvSpPr/>
            <p:nvPr/>
          </p:nvSpPr>
          <p:spPr>
            <a:xfrm>
              <a:off x="196365" y="898862"/>
              <a:ext cx="4750285" cy="3051237"/>
            </a:xfrm>
            <a:prstGeom prst="roundRect">
              <a:avLst>
                <a:gd name="adj" fmla="val 5540"/>
              </a:avLst>
            </a:prstGeom>
            <a:solidFill>
              <a:srgbClr val="00B0F0">
                <a:alpha val="10000"/>
              </a:srgbClr>
            </a:solidFill>
            <a:ln w="63500">
              <a:solidFill>
                <a:srgbClr val="00B0F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54" name="Picture 11">
              <a:extLst>
                <a:ext uri="{FF2B5EF4-FFF2-40B4-BE49-F238E27FC236}">
                  <a16:creationId xmlns:a16="http://schemas.microsoft.com/office/drawing/2014/main" id="{E8732A6D-ABB9-8FDC-2794-0BEB8B922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071" y="1299791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1">
              <a:extLst>
                <a:ext uri="{FF2B5EF4-FFF2-40B4-BE49-F238E27FC236}">
                  <a16:creationId xmlns:a16="http://schemas.microsoft.com/office/drawing/2014/main" id="{4FCD4762-F267-6132-FB79-A9A31CA605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071" y="242520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11">
              <a:extLst>
                <a:ext uri="{FF2B5EF4-FFF2-40B4-BE49-F238E27FC236}">
                  <a16:creationId xmlns:a16="http://schemas.microsoft.com/office/drawing/2014/main" id="{274142E9-996C-0D2C-FC86-2597B83EB9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8320" y="1299791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1">
              <a:extLst>
                <a:ext uri="{FF2B5EF4-FFF2-40B4-BE49-F238E27FC236}">
                  <a16:creationId xmlns:a16="http://schemas.microsoft.com/office/drawing/2014/main" id="{0FC57E49-1A92-FCBF-83A1-8E0DEC0F96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8320" y="3227505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1">
              <a:extLst>
                <a:ext uri="{FF2B5EF4-FFF2-40B4-BE49-F238E27FC236}">
                  <a16:creationId xmlns:a16="http://schemas.microsoft.com/office/drawing/2014/main" id="{E944C0B3-F707-5E82-828F-15FEFA6C1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071" y="3227505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5">
              <a:extLst>
                <a:ext uri="{FF2B5EF4-FFF2-40B4-BE49-F238E27FC236}">
                  <a16:creationId xmlns:a16="http://schemas.microsoft.com/office/drawing/2014/main" id="{2B80E536-97A0-8EDB-2FE9-5DA300D7F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6989" y="1787471"/>
              <a:ext cx="607174" cy="607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0" name="Egyenes összekötő 59">
              <a:extLst>
                <a:ext uri="{FF2B5EF4-FFF2-40B4-BE49-F238E27FC236}">
                  <a16:creationId xmlns:a16="http://schemas.microsoft.com/office/drawing/2014/main" id="{F675F95A-BCCA-F48B-E7F1-D0E1A7D2001E}"/>
                </a:ext>
              </a:extLst>
            </p:cNvPr>
            <p:cNvCxnSpPr>
              <a:cxnSpLocks/>
              <a:stCxn id="58" idx="3"/>
              <a:endCxn id="57" idx="1"/>
            </p:cNvCxnSpPr>
            <p:nvPr/>
          </p:nvCxnSpPr>
          <p:spPr>
            <a:xfrm>
              <a:off x="971751" y="3471345"/>
              <a:ext cx="1296569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gyenes összekötő 60">
              <a:extLst>
                <a:ext uri="{FF2B5EF4-FFF2-40B4-BE49-F238E27FC236}">
                  <a16:creationId xmlns:a16="http://schemas.microsoft.com/office/drawing/2014/main" id="{A7C6534C-7595-F600-FE81-54F8DB480856}"/>
                </a:ext>
              </a:extLst>
            </p:cNvPr>
            <p:cNvCxnSpPr>
              <a:cxnSpLocks/>
            </p:cNvCxnSpPr>
            <p:nvPr/>
          </p:nvCxnSpPr>
          <p:spPr>
            <a:xfrm>
              <a:off x="2451835" y="1787471"/>
              <a:ext cx="0" cy="747767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gyenes összekötő 61">
              <a:extLst>
                <a:ext uri="{FF2B5EF4-FFF2-40B4-BE49-F238E27FC236}">
                  <a16:creationId xmlns:a16="http://schemas.microsoft.com/office/drawing/2014/main" id="{C9ED366E-3458-537B-EF81-8BF8AE6ECAE1}"/>
                </a:ext>
              </a:extLst>
            </p:cNvPr>
            <p:cNvCxnSpPr>
              <a:cxnSpLocks/>
            </p:cNvCxnSpPr>
            <p:nvPr/>
          </p:nvCxnSpPr>
          <p:spPr>
            <a:xfrm>
              <a:off x="2575660" y="1787471"/>
              <a:ext cx="0" cy="747767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gyenes összekötő 62">
              <a:extLst>
                <a:ext uri="{FF2B5EF4-FFF2-40B4-BE49-F238E27FC236}">
                  <a16:creationId xmlns:a16="http://schemas.microsoft.com/office/drawing/2014/main" id="{BD6D2D14-6266-1A59-CFF3-907005C38A26}"/>
                </a:ext>
              </a:extLst>
            </p:cNvPr>
            <p:cNvCxnSpPr>
              <a:cxnSpLocks/>
              <a:stCxn id="56" idx="3"/>
              <a:endCxn id="1041" idx="1"/>
            </p:cNvCxnSpPr>
            <p:nvPr/>
          </p:nvCxnSpPr>
          <p:spPr>
            <a:xfrm>
              <a:off x="2756000" y="1543631"/>
              <a:ext cx="1296569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Egyenes összekötő 1023">
              <a:extLst>
                <a:ext uri="{FF2B5EF4-FFF2-40B4-BE49-F238E27FC236}">
                  <a16:creationId xmlns:a16="http://schemas.microsoft.com/office/drawing/2014/main" id="{12D29212-5E7A-7D8B-3DE0-A1F29E6455D8}"/>
                </a:ext>
              </a:extLst>
            </p:cNvPr>
            <p:cNvCxnSpPr>
              <a:cxnSpLocks/>
              <a:stCxn id="1033" idx="3"/>
              <a:endCxn id="1040" idx="1"/>
            </p:cNvCxnSpPr>
            <p:nvPr/>
          </p:nvCxnSpPr>
          <p:spPr>
            <a:xfrm>
              <a:off x="2756000" y="2669049"/>
              <a:ext cx="1296569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Egyenes összekötő 1024">
              <a:extLst>
                <a:ext uri="{FF2B5EF4-FFF2-40B4-BE49-F238E27FC236}">
                  <a16:creationId xmlns:a16="http://schemas.microsoft.com/office/drawing/2014/main" id="{0142CDAB-768E-89C2-1716-9AE9FBEA8C7B}"/>
                </a:ext>
              </a:extLst>
            </p:cNvPr>
            <p:cNvCxnSpPr>
              <a:cxnSpLocks/>
              <a:stCxn id="55" idx="3"/>
              <a:endCxn id="1033" idx="1"/>
            </p:cNvCxnSpPr>
            <p:nvPr/>
          </p:nvCxnSpPr>
          <p:spPr>
            <a:xfrm>
              <a:off x="971751" y="2669049"/>
              <a:ext cx="1296569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Egyenes összekötő 1026">
              <a:extLst>
                <a:ext uri="{FF2B5EF4-FFF2-40B4-BE49-F238E27FC236}">
                  <a16:creationId xmlns:a16="http://schemas.microsoft.com/office/drawing/2014/main" id="{80C79938-F54A-A06A-9C2E-C6D2EA226181}"/>
                </a:ext>
              </a:extLst>
            </p:cNvPr>
            <p:cNvCxnSpPr>
              <a:cxnSpLocks/>
              <a:stCxn id="54" idx="3"/>
              <a:endCxn id="56" idx="1"/>
            </p:cNvCxnSpPr>
            <p:nvPr/>
          </p:nvCxnSpPr>
          <p:spPr>
            <a:xfrm>
              <a:off x="971751" y="1543631"/>
              <a:ext cx="1296569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Egyenes összekötő 1028">
              <a:extLst>
                <a:ext uri="{FF2B5EF4-FFF2-40B4-BE49-F238E27FC236}">
                  <a16:creationId xmlns:a16="http://schemas.microsoft.com/office/drawing/2014/main" id="{343C1716-65EB-79ED-41A8-04145536E0EB}"/>
                </a:ext>
              </a:extLst>
            </p:cNvPr>
            <p:cNvCxnSpPr>
              <a:cxnSpLocks/>
              <a:stCxn id="57" idx="0"/>
              <a:endCxn id="1033" idx="2"/>
            </p:cNvCxnSpPr>
            <p:nvPr/>
          </p:nvCxnSpPr>
          <p:spPr>
            <a:xfrm flipV="1">
              <a:off x="2512160" y="2912889"/>
              <a:ext cx="0" cy="314616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Egyenes összekötő 1029">
              <a:extLst>
                <a:ext uri="{FF2B5EF4-FFF2-40B4-BE49-F238E27FC236}">
                  <a16:creationId xmlns:a16="http://schemas.microsoft.com/office/drawing/2014/main" id="{1FD42A65-762C-E213-D74C-D3C464AD1EDF}"/>
                </a:ext>
              </a:extLst>
            </p:cNvPr>
            <p:cNvCxnSpPr>
              <a:cxnSpLocks/>
              <a:stCxn id="1040" idx="3"/>
              <a:endCxn id="59" idx="1"/>
            </p:cNvCxnSpPr>
            <p:nvPr/>
          </p:nvCxnSpPr>
          <p:spPr>
            <a:xfrm flipV="1">
              <a:off x="4540249" y="2091058"/>
              <a:ext cx="586740" cy="577991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Egyenes összekötő 1030">
              <a:extLst>
                <a:ext uri="{FF2B5EF4-FFF2-40B4-BE49-F238E27FC236}">
                  <a16:creationId xmlns:a16="http://schemas.microsoft.com/office/drawing/2014/main" id="{0471E895-0AB2-7F9C-8146-15D015A492E7}"/>
                </a:ext>
              </a:extLst>
            </p:cNvPr>
            <p:cNvCxnSpPr>
              <a:cxnSpLocks/>
              <a:stCxn id="1041" idx="3"/>
              <a:endCxn id="59" idx="1"/>
            </p:cNvCxnSpPr>
            <p:nvPr/>
          </p:nvCxnSpPr>
          <p:spPr>
            <a:xfrm>
              <a:off x="4540249" y="1543631"/>
              <a:ext cx="586740" cy="547427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Téglalap: lekerekített 1031">
              <a:extLst>
                <a:ext uri="{FF2B5EF4-FFF2-40B4-BE49-F238E27FC236}">
                  <a16:creationId xmlns:a16="http://schemas.microsoft.com/office/drawing/2014/main" id="{09B920C8-5957-B066-4DE6-8B5F70EBB06B}"/>
                </a:ext>
              </a:extLst>
            </p:cNvPr>
            <p:cNvSpPr/>
            <p:nvPr/>
          </p:nvSpPr>
          <p:spPr>
            <a:xfrm>
              <a:off x="120165" y="804898"/>
              <a:ext cx="1280990" cy="360532"/>
            </a:xfrm>
            <a:prstGeom prst="roundRect">
              <a:avLst>
                <a:gd name="adj" fmla="val 17514"/>
              </a:avLst>
            </a:prstGeom>
            <a:solidFill>
              <a:srgbClr val="1C2E34"/>
            </a:solidFill>
            <a:ln w="63500">
              <a:solidFill>
                <a:srgbClr val="00B0F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 Telephely</a:t>
              </a:r>
              <a:endParaRPr lang="hu-HU" dirty="0"/>
            </a:p>
          </p:txBody>
        </p:sp>
        <p:pic>
          <p:nvPicPr>
            <p:cNvPr id="1033" name="Picture 11">
              <a:extLst>
                <a:ext uri="{FF2B5EF4-FFF2-40B4-BE49-F238E27FC236}">
                  <a16:creationId xmlns:a16="http://schemas.microsoft.com/office/drawing/2014/main" id="{4F258BF5-C62B-D37C-4229-EE3524C94D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8320" y="242520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4" name="Egyenes összekötő 1033">
              <a:extLst>
                <a:ext uri="{FF2B5EF4-FFF2-40B4-BE49-F238E27FC236}">
                  <a16:creationId xmlns:a16="http://schemas.microsoft.com/office/drawing/2014/main" id="{8A6C2E4C-4D24-12CA-BB2E-CAFC097F743B}"/>
                </a:ext>
              </a:extLst>
            </p:cNvPr>
            <p:cNvCxnSpPr>
              <a:cxnSpLocks/>
              <a:stCxn id="1033" idx="3"/>
              <a:endCxn id="1039" idx="0"/>
            </p:cNvCxnSpPr>
            <p:nvPr/>
          </p:nvCxnSpPr>
          <p:spPr>
            <a:xfrm>
              <a:off x="2756000" y="2669049"/>
              <a:ext cx="667652" cy="558456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Egyenes összekötő 1034">
              <a:extLst>
                <a:ext uri="{FF2B5EF4-FFF2-40B4-BE49-F238E27FC236}">
                  <a16:creationId xmlns:a16="http://schemas.microsoft.com/office/drawing/2014/main" id="{F830A9E7-CD51-EB17-ED4F-0B0ABE03186A}"/>
                </a:ext>
              </a:extLst>
            </p:cNvPr>
            <p:cNvCxnSpPr>
              <a:cxnSpLocks/>
              <a:stCxn id="56" idx="3"/>
              <a:endCxn id="1039" idx="0"/>
            </p:cNvCxnSpPr>
            <p:nvPr/>
          </p:nvCxnSpPr>
          <p:spPr>
            <a:xfrm>
              <a:off x="2756000" y="1543631"/>
              <a:ext cx="667652" cy="1683874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Egyenes összekötő 1035">
              <a:extLst>
                <a:ext uri="{FF2B5EF4-FFF2-40B4-BE49-F238E27FC236}">
                  <a16:creationId xmlns:a16="http://schemas.microsoft.com/office/drawing/2014/main" id="{74DCD73F-620A-0AAC-4084-D6209F432B71}"/>
                </a:ext>
              </a:extLst>
            </p:cNvPr>
            <p:cNvCxnSpPr>
              <a:cxnSpLocks/>
              <a:stCxn id="56" idx="3"/>
              <a:endCxn id="1038" idx="0"/>
            </p:cNvCxnSpPr>
            <p:nvPr/>
          </p:nvCxnSpPr>
          <p:spPr>
            <a:xfrm>
              <a:off x="2756000" y="1543631"/>
              <a:ext cx="872757" cy="402824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Egyenes összekötő 1036">
              <a:extLst>
                <a:ext uri="{FF2B5EF4-FFF2-40B4-BE49-F238E27FC236}">
                  <a16:creationId xmlns:a16="http://schemas.microsoft.com/office/drawing/2014/main" id="{98A9DE17-4669-39C7-5286-D3868DA054B8}"/>
                </a:ext>
              </a:extLst>
            </p:cNvPr>
            <p:cNvCxnSpPr>
              <a:cxnSpLocks/>
              <a:stCxn id="1033" idx="3"/>
              <a:endCxn id="1038" idx="0"/>
            </p:cNvCxnSpPr>
            <p:nvPr/>
          </p:nvCxnSpPr>
          <p:spPr>
            <a:xfrm flipV="1">
              <a:off x="2756000" y="1946455"/>
              <a:ext cx="872757" cy="722594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8" name="Picture 11">
              <a:extLst>
                <a:ext uri="{FF2B5EF4-FFF2-40B4-BE49-F238E27FC236}">
                  <a16:creationId xmlns:a16="http://schemas.microsoft.com/office/drawing/2014/main" id="{B889B195-0590-F8F3-5557-FBBA7A88F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4917" y="1946455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9" name="Picture 11">
              <a:extLst>
                <a:ext uri="{FF2B5EF4-FFF2-40B4-BE49-F238E27FC236}">
                  <a16:creationId xmlns:a16="http://schemas.microsoft.com/office/drawing/2014/main" id="{4E3E629E-4071-A58D-5B84-320D58349E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9812" y="3227505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1">
              <a:extLst>
                <a:ext uri="{FF2B5EF4-FFF2-40B4-BE49-F238E27FC236}">
                  <a16:creationId xmlns:a16="http://schemas.microsoft.com/office/drawing/2014/main" id="{1908F8E0-8B24-019E-1679-ECFAD984E4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569" y="242520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1">
              <a:extLst>
                <a:ext uri="{FF2B5EF4-FFF2-40B4-BE49-F238E27FC236}">
                  <a16:creationId xmlns:a16="http://schemas.microsoft.com/office/drawing/2014/main" id="{E34F10E9-C455-AD13-E917-3CF5BC7B40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569" y="1299791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2" name="Csoportba foglalás 1041">
            <a:extLst>
              <a:ext uri="{FF2B5EF4-FFF2-40B4-BE49-F238E27FC236}">
                <a16:creationId xmlns:a16="http://schemas.microsoft.com/office/drawing/2014/main" id="{60711040-433A-3D55-B4C6-93507BB8F82E}"/>
              </a:ext>
            </a:extLst>
          </p:cNvPr>
          <p:cNvGrpSpPr/>
          <p:nvPr/>
        </p:nvGrpSpPr>
        <p:grpSpPr>
          <a:xfrm>
            <a:off x="117062" y="12349142"/>
            <a:ext cx="4116962" cy="2305915"/>
            <a:chOff x="117062" y="4124840"/>
            <a:chExt cx="4116962" cy="2305915"/>
          </a:xfrm>
        </p:grpSpPr>
        <p:sp>
          <p:nvSpPr>
            <p:cNvPr id="1043" name="Téglalap: lekerekített 1042">
              <a:extLst>
                <a:ext uri="{FF2B5EF4-FFF2-40B4-BE49-F238E27FC236}">
                  <a16:creationId xmlns:a16="http://schemas.microsoft.com/office/drawing/2014/main" id="{5BD92060-5533-6776-024E-FE1B3CFF80BE}"/>
                </a:ext>
              </a:extLst>
            </p:cNvPr>
            <p:cNvSpPr/>
            <p:nvPr/>
          </p:nvSpPr>
          <p:spPr>
            <a:xfrm>
              <a:off x="193263" y="4218804"/>
              <a:ext cx="3205258" cy="2211951"/>
            </a:xfrm>
            <a:prstGeom prst="roundRect">
              <a:avLst>
                <a:gd name="adj" fmla="val 5540"/>
              </a:avLst>
            </a:prstGeom>
            <a:solidFill>
              <a:schemeClr val="accent6">
                <a:alpha val="10000"/>
              </a:schemeClr>
            </a:solidFill>
            <a:ln w="63500">
              <a:solidFill>
                <a:schemeClr val="accent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44" name="Téglalap: lekerekített 1043">
              <a:extLst>
                <a:ext uri="{FF2B5EF4-FFF2-40B4-BE49-F238E27FC236}">
                  <a16:creationId xmlns:a16="http://schemas.microsoft.com/office/drawing/2014/main" id="{68A851E9-93D7-C423-5244-02F26684617A}"/>
                </a:ext>
              </a:extLst>
            </p:cNvPr>
            <p:cNvSpPr/>
            <p:nvPr/>
          </p:nvSpPr>
          <p:spPr>
            <a:xfrm>
              <a:off x="117062" y="4124840"/>
              <a:ext cx="1280990" cy="360532"/>
            </a:xfrm>
            <a:prstGeom prst="roundRect">
              <a:avLst>
                <a:gd name="adj" fmla="val 17514"/>
              </a:avLst>
            </a:prstGeom>
            <a:solidFill>
              <a:srgbClr val="272E23"/>
            </a:solidFill>
            <a:ln w="63500">
              <a:solidFill>
                <a:schemeClr val="accent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2. Telephely</a:t>
              </a:r>
              <a:endParaRPr lang="hu-HU" dirty="0"/>
            </a:p>
          </p:txBody>
        </p:sp>
        <p:pic>
          <p:nvPicPr>
            <p:cNvPr id="1045" name="Picture 11">
              <a:extLst>
                <a:ext uri="{FF2B5EF4-FFF2-40B4-BE49-F238E27FC236}">
                  <a16:creationId xmlns:a16="http://schemas.microsoft.com/office/drawing/2014/main" id="{589C01CB-AA28-4C72-51F6-8F9CB01B69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277" y="5665014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11">
              <a:extLst>
                <a:ext uri="{FF2B5EF4-FFF2-40B4-BE49-F238E27FC236}">
                  <a16:creationId xmlns:a16="http://schemas.microsoft.com/office/drawing/2014/main" id="{683A4A34-0E0B-0C6B-A1C7-BE992DCC6C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277" y="4726916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7" name="Picture 5">
              <a:extLst>
                <a:ext uri="{FF2B5EF4-FFF2-40B4-BE49-F238E27FC236}">
                  <a16:creationId xmlns:a16="http://schemas.microsoft.com/office/drawing/2014/main" id="{5C9E3621-AB45-B80B-1B59-E86060E34B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6850" y="5108377"/>
              <a:ext cx="607174" cy="607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48" name="Egyenes összekötő 1047">
              <a:extLst>
                <a:ext uri="{FF2B5EF4-FFF2-40B4-BE49-F238E27FC236}">
                  <a16:creationId xmlns:a16="http://schemas.microsoft.com/office/drawing/2014/main" id="{1F78A511-8B2B-6D31-E7F6-973225A71A8F}"/>
                </a:ext>
              </a:extLst>
            </p:cNvPr>
            <p:cNvCxnSpPr>
              <a:cxnSpLocks/>
              <a:stCxn id="1046" idx="3"/>
              <a:endCxn id="1054" idx="1"/>
            </p:cNvCxnSpPr>
            <p:nvPr/>
          </p:nvCxnSpPr>
          <p:spPr>
            <a:xfrm>
              <a:off x="909957" y="4970756"/>
              <a:ext cx="587155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Egyenes összekötő 1048">
              <a:extLst>
                <a:ext uri="{FF2B5EF4-FFF2-40B4-BE49-F238E27FC236}">
                  <a16:creationId xmlns:a16="http://schemas.microsoft.com/office/drawing/2014/main" id="{BDCB67AB-25CE-BEEF-B3EB-FBCE14B0754A}"/>
                </a:ext>
              </a:extLst>
            </p:cNvPr>
            <p:cNvCxnSpPr>
              <a:cxnSpLocks/>
              <a:stCxn id="1045" idx="3"/>
              <a:endCxn id="1055" idx="1"/>
            </p:cNvCxnSpPr>
            <p:nvPr/>
          </p:nvCxnSpPr>
          <p:spPr>
            <a:xfrm>
              <a:off x="909957" y="5908854"/>
              <a:ext cx="590747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Egyenes összekötő 1049">
              <a:extLst>
                <a:ext uri="{FF2B5EF4-FFF2-40B4-BE49-F238E27FC236}">
                  <a16:creationId xmlns:a16="http://schemas.microsoft.com/office/drawing/2014/main" id="{880DA39A-8416-148E-3863-E546D892B1CB}"/>
                </a:ext>
              </a:extLst>
            </p:cNvPr>
            <p:cNvCxnSpPr>
              <a:cxnSpLocks/>
              <a:stCxn id="1045" idx="3"/>
              <a:endCxn id="1054" idx="1"/>
            </p:cNvCxnSpPr>
            <p:nvPr/>
          </p:nvCxnSpPr>
          <p:spPr>
            <a:xfrm flipV="1">
              <a:off x="909957" y="4970756"/>
              <a:ext cx="587155" cy="938098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Egyenes összekötő 1050">
              <a:extLst>
                <a:ext uri="{FF2B5EF4-FFF2-40B4-BE49-F238E27FC236}">
                  <a16:creationId xmlns:a16="http://schemas.microsoft.com/office/drawing/2014/main" id="{E143CBAC-2A60-FCD0-AE42-B74F46FA4177}"/>
                </a:ext>
              </a:extLst>
            </p:cNvPr>
            <p:cNvCxnSpPr>
              <a:cxnSpLocks/>
              <a:stCxn id="1046" idx="3"/>
              <a:endCxn id="1055" idx="1"/>
            </p:cNvCxnSpPr>
            <p:nvPr/>
          </p:nvCxnSpPr>
          <p:spPr>
            <a:xfrm>
              <a:off x="909957" y="4970756"/>
              <a:ext cx="590747" cy="938098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Egyenes összekötő 1051">
              <a:extLst>
                <a:ext uri="{FF2B5EF4-FFF2-40B4-BE49-F238E27FC236}">
                  <a16:creationId xmlns:a16="http://schemas.microsoft.com/office/drawing/2014/main" id="{8CA3493C-42BA-94A8-900A-AE885A8B679D}"/>
                </a:ext>
              </a:extLst>
            </p:cNvPr>
            <p:cNvCxnSpPr>
              <a:cxnSpLocks/>
            </p:cNvCxnSpPr>
            <p:nvPr/>
          </p:nvCxnSpPr>
          <p:spPr>
            <a:xfrm>
              <a:off x="1674595" y="5038081"/>
              <a:ext cx="0" cy="747767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Egyenes összekötő 1052">
              <a:extLst>
                <a:ext uri="{FF2B5EF4-FFF2-40B4-BE49-F238E27FC236}">
                  <a16:creationId xmlns:a16="http://schemas.microsoft.com/office/drawing/2014/main" id="{2FBB36E2-D44D-6474-47FE-0ADC5F5B8B36}"/>
                </a:ext>
              </a:extLst>
            </p:cNvPr>
            <p:cNvCxnSpPr>
              <a:cxnSpLocks/>
            </p:cNvCxnSpPr>
            <p:nvPr/>
          </p:nvCxnSpPr>
          <p:spPr>
            <a:xfrm>
              <a:off x="1798420" y="5038081"/>
              <a:ext cx="0" cy="747767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4" name="Picture 11">
              <a:extLst>
                <a:ext uri="{FF2B5EF4-FFF2-40B4-BE49-F238E27FC236}">
                  <a16:creationId xmlns:a16="http://schemas.microsoft.com/office/drawing/2014/main" id="{8B5D5734-1AEB-14B9-621B-92C0F71E57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7112" y="4726916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5" name="Picture 11">
              <a:extLst>
                <a:ext uri="{FF2B5EF4-FFF2-40B4-BE49-F238E27FC236}">
                  <a16:creationId xmlns:a16="http://schemas.microsoft.com/office/drawing/2014/main" id="{C7B0F4CD-B058-C000-97A6-9BB481A5C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704" y="5665014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56" name="Egyenes összekötő 1055">
              <a:extLst>
                <a:ext uri="{FF2B5EF4-FFF2-40B4-BE49-F238E27FC236}">
                  <a16:creationId xmlns:a16="http://schemas.microsoft.com/office/drawing/2014/main" id="{311BCF9D-5831-F34B-D132-D522949B482E}"/>
                </a:ext>
              </a:extLst>
            </p:cNvPr>
            <p:cNvCxnSpPr>
              <a:cxnSpLocks/>
              <a:stCxn id="1054" idx="3"/>
              <a:endCxn id="1060" idx="1"/>
            </p:cNvCxnSpPr>
            <p:nvPr/>
          </p:nvCxnSpPr>
          <p:spPr>
            <a:xfrm>
              <a:off x="1984792" y="4970756"/>
              <a:ext cx="590868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Egyenes összekötő 1056">
              <a:extLst>
                <a:ext uri="{FF2B5EF4-FFF2-40B4-BE49-F238E27FC236}">
                  <a16:creationId xmlns:a16="http://schemas.microsoft.com/office/drawing/2014/main" id="{E65DD17A-434D-E7BD-1440-4A36F22B0FED}"/>
                </a:ext>
              </a:extLst>
            </p:cNvPr>
            <p:cNvCxnSpPr>
              <a:cxnSpLocks/>
              <a:stCxn id="1055" idx="3"/>
              <a:endCxn id="1061" idx="1"/>
            </p:cNvCxnSpPr>
            <p:nvPr/>
          </p:nvCxnSpPr>
          <p:spPr>
            <a:xfrm>
              <a:off x="1988384" y="5908854"/>
              <a:ext cx="587276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Egyenes összekötő 1057">
              <a:extLst>
                <a:ext uri="{FF2B5EF4-FFF2-40B4-BE49-F238E27FC236}">
                  <a16:creationId xmlns:a16="http://schemas.microsoft.com/office/drawing/2014/main" id="{50C594E8-068C-80EC-F664-1B4661E8CE82}"/>
                </a:ext>
              </a:extLst>
            </p:cNvPr>
            <p:cNvCxnSpPr>
              <a:cxnSpLocks/>
              <a:stCxn id="1061" idx="3"/>
              <a:endCxn id="1047" idx="1"/>
            </p:cNvCxnSpPr>
            <p:nvPr/>
          </p:nvCxnSpPr>
          <p:spPr>
            <a:xfrm flipV="1">
              <a:off x="3063340" y="5411964"/>
              <a:ext cx="563510" cy="49689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Egyenes összekötő 1058">
              <a:extLst>
                <a:ext uri="{FF2B5EF4-FFF2-40B4-BE49-F238E27FC236}">
                  <a16:creationId xmlns:a16="http://schemas.microsoft.com/office/drawing/2014/main" id="{477B11B3-AA91-51C7-A79A-D0B06F8AD5FB}"/>
                </a:ext>
              </a:extLst>
            </p:cNvPr>
            <p:cNvCxnSpPr>
              <a:cxnSpLocks/>
              <a:stCxn id="1060" idx="3"/>
              <a:endCxn id="1047" idx="1"/>
            </p:cNvCxnSpPr>
            <p:nvPr/>
          </p:nvCxnSpPr>
          <p:spPr>
            <a:xfrm>
              <a:off x="3063340" y="4970756"/>
              <a:ext cx="563510" cy="441208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0" name="Picture 11">
              <a:extLst>
                <a:ext uri="{FF2B5EF4-FFF2-40B4-BE49-F238E27FC236}">
                  <a16:creationId xmlns:a16="http://schemas.microsoft.com/office/drawing/2014/main" id="{8EF8FB21-F6EE-BB26-5559-FF0F92E45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660" y="4726916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1" name="Picture 11">
              <a:extLst>
                <a:ext uri="{FF2B5EF4-FFF2-40B4-BE49-F238E27FC236}">
                  <a16:creationId xmlns:a16="http://schemas.microsoft.com/office/drawing/2014/main" id="{1A64E932-48FB-2CF9-2A1A-AB7E695A64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660" y="5665014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2" name="Csoportba foglalás 1061">
            <a:extLst>
              <a:ext uri="{FF2B5EF4-FFF2-40B4-BE49-F238E27FC236}">
                <a16:creationId xmlns:a16="http://schemas.microsoft.com/office/drawing/2014/main" id="{20EFD529-B674-5810-1441-EE4BB02B4D06}"/>
              </a:ext>
            </a:extLst>
          </p:cNvPr>
          <p:cNvGrpSpPr/>
          <p:nvPr/>
        </p:nvGrpSpPr>
        <p:grpSpPr>
          <a:xfrm>
            <a:off x="117062" y="14818665"/>
            <a:ext cx="4059122" cy="1423482"/>
            <a:chOff x="117062" y="6594363"/>
            <a:chExt cx="4059122" cy="1423482"/>
          </a:xfrm>
        </p:grpSpPr>
        <p:sp>
          <p:nvSpPr>
            <p:cNvPr id="1063" name="Téglalap: lekerekített 1062">
              <a:extLst>
                <a:ext uri="{FF2B5EF4-FFF2-40B4-BE49-F238E27FC236}">
                  <a16:creationId xmlns:a16="http://schemas.microsoft.com/office/drawing/2014/main" id="{47DA1329-CE6C-28FF-0395-04CA2341435A}"/>
                </a:ext>
              </a:extLst>
            </p:cNvPr>
            <p:cNvSpPr/>
            <p:nvPr/>
          </p:nvSpPr>
          <p:spPr>
            <a:xfrm>
              <a:off x="193263" y="6688328"/>
              <a:ext cx="3205258" cy="1329517"/>
            </a:xfrm>
            <a:prstGeom prst="roundRect">
              <a:avLst>
                <a:gd name="adj" fmla="val 5540"/>
              </a:avLst>
            </a:prstGeom>
            <a:solidFill>
              <a:schemeClr val="accent2">
                <a:alpha val="10000"/>
              </a:schemeClr>
            </a:solidFill>
            <a:ln w="63500">
              <a:solidFill>
                <a:schemeClr val="accent2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64" name="Téglalap: lekerekített 1063">
              <a:extLst>
                <a:ext uri="{FF2B5EF4-FFF2-40B4-BE49-F238E27FC236}">
                  <a16:creationId xmlns:a16="http://schemas.microsoft.com/office/drawing/2014/main" id="{0E882443-D430-64B9-3D64-7CD692E04F97}"/>
                </a:ext>
              </a:extLst>
            </p:cNvPr>
            <p:cNvSpPr/>
            <p:nvPr/>
          </p:nvSpPr>
          <p:spPr>
            <a:xfrm>
              <a:off x="117062" y="6594363"/>
              <a:ext cx="1280990" cy="360532"/>
            </a:xfrm>
            <a:prstGeom prst="roundRect">
              <a:avLst>
                <a:gd name="adj" fmla="val 17514"/>
              </a:avLst>
            </a:prstGeom>
            <a:solidFill>
              <a:srgbClr val="342921"/>
            </a:solidFill>
            <a:ln w="63500">
              <a:solidFill>
                <a:schemeClr val="accent2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 Telephely</a:t>
              </a:r>
              <a:endParaRPr lang="hu-HU" dirty="0"/>
            </a:p>
          </p:txBody>
        </p:sp>
        <p:pic>
          <p:nvPicPr>
            <p:cNvPr id="1065" name="Picture 5">
              <a:extLst>
                <a:ext uri="{FF2B5EF4-FFF2-40B4-BE49-F238E27FC236}">
                  <a16:creationId xmlns:a16="http://schemas.microsoft.com/office/drawing/2014/main" id="{7F06E566-A4F8-1B3D-8219-F35E1D72C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010" y="7131682"/>
              <a:ext cx="607174" cy="607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66" name="Egyenes összekötő 1065">
              <a:extLst>
                <a:ext uri="{FF2B5EF4-FFF2-40B4-BE49-F238E27FC236}">
                  <a16:creationId xmlns:a16="http://schemas.microsoft.com/office/drawing/2014/main" id="{7B49C0E9-10D0-68A8-A86F-4F28DD568A13}"/>
                </a:ext>
              </a:extLst>
            </p:cNvPr>
            <p:cNvCxnSpPr>
              <a:cxnSpLocks/>
              <a:stCxn id="1067" idx="3"/>
              <a:endCxn id="1065" idx="1"/>
            </p:cNvCxnSpPr>
            <p:nvPr/>
          </p:nvCxnSpPr>
          <p:spPr>
            <a:xfrm flipV="1">
              <a:off x="3063340" y="7435269"/>
              <a:ext cx="505670" cy="501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7" name="Picture 11">
              <a:extLst>
                <a:ext uri="{FF2B5EF4-FFF2-40B4-BE49-F238E27FC236}">
                  <a16:creationId xmlns:a16="http://schemas.microsoft.com/office/drawing/2014/main" id="{1FCF3E45-259A-C89B-2371-4A9D80DF6F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660" y="719643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8" name="Picture 11">
              <a:extLst>
                <a:ext uri="{FF2B5EF4-FFF2-40B4-BE49-F238E27FC236}">
                  <a16:creationId xmlns:a16="http://schemas.microsoft.com/office/drawing/2014/main" id="{BA1EA483-CB76-D428-DCE6-9B81E4462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5464" y="719643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69" name="Egyenes összekötő 1068">
              <a:extLst>
                <a:ext uri="{FF2B5EF4-FFF2-40B4-BE49-F238E27FC236}">
                  <a16:creationId xmlns:a16="http://schemas.microsoft.com/office/drawing/2014/main" id="{3CC9C39C-20CA-060B-17E0-C50DEFBF0954}"/>
                </a:ext>
              </a:extLst>
            </p:cNvPr>
            <p:cNvCxnSpPr>
              <a:cxnSpLocks/>
              <a:stCxn id="1067" idx="1"/>
              <a:endCxn id="1068" idx="3"/>
            </p:cNvCxnSpPr>
            <p:nvPr/>
          </p:nvCxnSpPr>
          <p:spPr>
            <a:xfrm flipH="1">
              <a:off x="1973144" y="7440279"/>
              <a:ext cx="602516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70" name="Picture 11">
              <a:extLst>
                <a:ext uri="{FF2B5EF4-FFF2-40B4-BE49-F238E27FC236}">
                  <a16:creationId xmlns:a16="http://schemas.microsoft.com/office/drawing/2014/main" id="{C61CB845-68A9-AFCE-6C65-4DB7E1289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68" y="7196439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71" name="Egyenes összekötő 1070">
              <a:extLst>
                <a:ext uri="{FF2B5EF4-FFF2-40B4-BE49-F238E27FC236}">
                  <a16:creationId xmlns:a16="http://schemas.microsoft.com/office/drawing/2014/main" id="{151DFD75-6FF5-0F86-7680-50F8680E3830}"/>
                </a:ext>
              </a:extLst>
            </p:cNvPr>
            <p:cNvCxnSpPr>
              <a:cxnSpLocks/>
              <a:stCxn id="1070" idx="3"/>
              <a:endCxn id="1068" idx="1"/>
            </p:cNvCxnSpPr>
            <p:nvPr/>
          </p:nvCxnSpPr>
          <p:spPr>
            <a:xfrm>
              <a:off x="882948" y="7440279"/>
              <a:ext cx="602516" cy="0"/>
            </a:xfrm>
            <a:prstGeom prst="line">
              <a:avLst/>
            </a:prstGeom>
            <a:ln w="31750" cmpd="sng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4" name="Ellipszis 1073">
            <a:extLst>
              <a:ext uri="{FF2B5EF4-FFF2-40B4-BE49-F238E27FC236}">
                <a16:creationId xmlns:a16="http://schemas.microsoft.com/office/drawing/2014/main" id="{D2DF2400-199A-E8A7-1843-43F2F7623620}"/>
              </a:ext>
            </a:extLst>
          </p:cNvPr>
          <p:cNvSpPr/>
          <p:nvPr/>
        </p:nvSpPr>
        <p:spPr>
          <a:xfrm>
            <a:off x="14072886" y="193563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75" name="Egyenes összekötő nyíllal 1074">
            <a:extLst>
              <a:ext uri="{FF2B5EF4-FFF2-40B4-BE49-F238E27FC236}">
                <a16:creationId xmlns:a16="http://schemas.microsoft.com/office/drawing/2014/main" id="{B50205AE-67A2-D990-0B4F-56F1B158C3F1}"/>
              </a:ext>
            </a:extLst>
          </p:cNvPr>
          <p:cNvCxnSpPr>
            <a:cxnSpLocks/>
          </p:cNvCxnSpPr>
          <p:nvPr/>
        </p:nvCxnSpPr>
        <p:spPr>
          <a:xfrm>
            <a:off x="14227668" y="628650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Ellipszis 1075">
            <a:extLst>
              <a:ext uri="{FF2B5EF4-FFF2-40B4-BE49-F238E27FC236}">
                <a16:creationId xmlns:a16="http://schemas.microsoft.com/office/drawing/2014/main" id="{2B04A13F-CC47-0113-0AFA-D4E73D066AB5}"/>
              </a:ext>
            </a:extLst>
          </p:cNvPr>
          <p:cNvSpPr/>
          <p:nvPr/>
        </p:nvSpPr>
        <p:spPr>
          <a:xfrm>
            <a:off x="14072886" y="9006005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77" name="Google Shape;205;p22">
            <a:extLst>
              <a:ext uri="{FF2B5EF4-FFF2-40B4-BE49-F238E27FC236}">
                <a16:creationId xmlns:a16="http://schemas.microsoft.com/office/drawing/2014/main" id="{3ADBA8D8-208C-FDB1-8EB6-252E7411ABA9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Saját Alkalmazás: Cisco Eszközkezelő</a:t>
            </a:r>
            <a:endParaRPr sz="3200" b="0" i="0" u="none" strike="noStrike" cap="none" dirty="0"/>
          </a:p>
        </p:txBody>
      </p:sp>
      <p:cxnSp>
        <p:nvCxnSpPr>
          <p:cNvPr id="1078" name="Egyenes összekötő nyíllal 1077">
            <a:extLst>
              <a:ext uri="{FF2B5EF4-FFF2-40B4-BE49-F238E27FC236}">
                <a16:creationId xmlns:a16="http://schemas.microsoft.com/office/drawing/2014/main" id="{6D8E6B33-30D4-F8CE-3E1F-33CB4694ADBE}"/>
              </a:ext>
            </a:extLst>
          </p:cNvPr>
          <p:cNvCxnSpPr>
            <a:cxnSpLocks/>
          </p:cNvCxnSpPr>
          <p:nvPr/>
        </p:nvCxnSpPr>
        <p:spPr>
          <a:xfrm>
            <a:off x="14226386" y="9438368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Google Shape;205;p22">
            <a:extLst>
              <a:ext uri="{FF2B5EF4-FFF2-40B4-BE49-F238E27FC236}">
                <a16:creationId xmlns:a16="http://schemas.microsoft.com/office/drawing/2014/main" id="{59C6F9D8-244D-745C-16E6-27FAF21E2A61}"/>
              </a:ext>
            </a:extLst>
          </p:cNvPr>
          <p:cNvSpPr/>
          <p:nvPr/>
        </p:nvSpPr>
        <p:spPr>
          <a:xfrm>
            <a:off x="1257639" y="8162953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Hálózati Topológia</a:t>
            </a:r>
            <a:endParaRPr sz="3200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67652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729190BF-65E4-577F-E987-F522910641E1}"/>
              </a:ext>
            </a:extLst>
          </p:cNvPr>
          <p:cNvSpPr/>
          <p:nvPr/>
        </p:nvSpPr>
        <p:spPr>
          <a:xfrm>
            <a:off x="0" y="-176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EDEA3CCD-A389-19BC-D086-AD07EDC905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585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5;p22">
            <a:extLst>
              <a:ext uri="{FF2B5EF4-FFF2-40B4-BE49-F238E27FC236}">
                <a16:creationId xmlns:a16="http://schemas.microsoft.com/office/drawing/2014/main" id="{FB6AE488-E6F1-8C22-4B01-5C1771EC1822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Topológia</a:t>
            </a:r>
            <a:endParaRPr sz="3200" b="0" i="0" u="none" strike="noStrike" cap="none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16689EC-20F8-7C1C-2A81-9BA4E640A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576"/>
            <a:ext cx="14630400" cy="668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7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729190BF-65E4-577F-E987-F522910641E1}"/>
              </a:ext>
            </a:extLst>
          </p:cNvPr>
          <p:cNvSpPr/>
          <p:nvPr/>
        </p:nvSpPr>
        <p:spPr>
          <a:xfrm>
            <a:off x="0" y="-176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EDEA3CCD-A389-19BC-D086-AD07EDC905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585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5;p22">
            <a:extLst>
              <a:ext uri="{FF2B5EF4-FFF2-40B4-BE49-F238E27FC236}">
                <a16:creationId xmlns:a16="http://schemas.microsoft.com/office/drawing/2014/main" id="{FB6AE488-E6F1-8C22-4B01-5C1771EC1822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Topológia</a:t>
            </a:r>
            <a:endParaRPr sz="3200" b="0" i="0" u="none" strike="noStrike" cap="none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509E8D5-D5D2-7A42-66F0-1B25F6ECE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062" y="1033032"/>
            <a:ext cx="896427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EF339B33-9C19-9B1A-0589-65751ACDB87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794FE9DD-B017-D2BB-7AB6-AC5493BF5A0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Ellipszis 43">
            <a:extLst>
              <a:ext uri="{FF2B5EF4-FFF2-40B4-BE49-F238E27FC236}">
                <a16:creationId xmlns:a16="http://schemas.microsoft.com/office/drawing/2014/main" id="{93C02FE3-FDE2-60B0-7CE9-5FF32D701023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Google Shape;205;p22">
            <a:extLst>
              <a:ext uri="{FF2B5EF4-FFF2-40B4-BE49-F238E27FC236}">
                <a16:creationId xmlns:a16="http://schemas.microsoft.com/office/drawing/2014/main" id="{FC104B56-EFBF-9C21-9DF9-CD01BBBB0FD0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IP </a:t>
            </a: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címzés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46" name="Egyenes összekötő nyíllal 45">
            <a:extLst>
              <a:ext uri="{FF2B5EF4-FFF2-40B4-BE49-F238E27FC236}">
                <a16:creationId xmlns:a16="http://schemas.microsoft.com/office/drawing/2014/main" id="{11B78D3D-8E73-EA5F-23E9-325197ECDB72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lipszis 49">
            <a:extLst>
              <a:ext uri="{FF2B5EF4-FFF2-40B4-BE49-F238E27FC236}">
                <a16:creationId xmlns:a16="http://schemas.microsoft.com/office/drawing/2014/main" id="{B74B7787-EBF7-D4FD-C0BA-C44BB5218E59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1" name="Egyenes összekötő nyíllal 50">
            <a:extLst>
              <a:ext uri="{FF2B5EF4-FFF2-40B4-BE49-F238E27FC236}">
                <a16:creationId xmlns:a16="http://schemas.microsoft.com/office/drawing/2014/main" id="{9354C915-ACDB-96F6-976E-613715C8E313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gyenes összekötő nyíllal 51">
            <a:extLst>
              <a:ext uri="{FF2B5EF4-FFF2-40B4-BE49-F238E27FC236}">
                <a16:creationId xmlns:a16="http://schemas.microsoft.com/office/drawing/2014/main" id="{C9C3AE5F-C01B-6DB7-229F-481F0D487AF9}"/>
              </a:ext>
            </a:extLst>
          </p:cNvPr>
          <p:cNvCxnSpPr>
            <a:cxnSpLocks/>
          </p:cNvCxnSpPr>
          <p:nvPr/>
        </p:nvCxnSpPr>
        <p:spPr>
          <a:xfrm>
            <a:off x="14226386" y="9438368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lipszis 53">
            <a:extLst>
              <a:ext uri="{FF2B5EF4-FFF2-40B4-BE49-F238E27FC236}">
                <a16:creationId xmlns:a16="http://schemas.microsoft.com/office/drawing/2014/main" id="{BEEC2365-5C12-548E-E34A-9D9C64318D7B}"/>
              </a:ext>
            </a:extLst>
          </p:cNvPr>
          <p:cNvSpPr/>
          <p:nvPr/>
        </p:nvSpPr>
        <p:spPr>
          <a:xfrm>
            <a:off x="14072886" y="9006005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104566DB-C56E-2589-B977-0E2A34DFC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850837"/>
              </p:ext>
            </p:extLst>
          </p:nvPr>
        </p:nvGraphicFramePr>
        <p:xfrm>
          <a:off x="3655481" y="446732"/>
          <a:ext cx="10296778" cy="772605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134843">
                  <a:extLst>
                    <a:ext uri="{9D8B030D-6E8A-4147-A177-3AD203B41FA5}">
                      <a16:colId xmlns:a16="http://schemas.microsoft.com/office/drawing/2014/main" val="933373890"/>
                    </a:ext>
                  </a:extLst>
                </a:gridCol>
                <a:gridCol w="1392560">
                  <a:extLst>
                    <a:ext uri="{9D8B030D-6E8A-4147-A177-3AD203B41FA5}">
                      <a16:colId xmlns:a16="http://schemas.microsoft.com/office/drawing/2014/main" val="4190797745"/>
                    </a:ext>
                  </a:extLst>
                </a:gridCol>
                <a:gridCol w="1419680">
                  <a:extLst>
                    <a:ext uri="{9D8B030D-6E8A-4147-A177-3AD203B41FA5}">
                      <a16:colId xmlns:a16="http://schemas.microsoft.com/office/drawing/2014/main" val="2859364606"/>
                    </a:ext>
                  </a:extLst>
                </a:gridCol>
                <a:gridCol w="2050938">
                  <a:extLst>
                    <a:ext uri="{9D8B030D-6E8A-4147-A177-3AD203B41FA5}">
                      <a16:colId xmlns:a16="http://schemas.microsoft.com/office/drawing/2014/main" val="3979105121"/>
                    </a:ext>
                  </a:extLst>
                </a:gridCol>
                <a:gridCol w="2139486">
                  <a:extLst>
                    <a:ext uri="{9D8B030D-6E8A-4147-A177-3AD203B41FA5}">
                      <a16:colId xmlns:a16="http://schemas.microsoft.com/office/drawing/2014/main" val="3536886723"/>
                    </a:ext>
                  </a:extLst>
                </a:gridCol>
                <a:gridCol w="2159271">
                  <a:extLst>
                    <a:ext uri="{9D8B030D-6E8A-4147-A177-3AD203B41FA5}">
                      <a16:colId xmlns:a16="http://schemas.microsoft.com/office/drawing/2014/main" val="3645034832"/>
                    </a:ext>
                  </a:extLst>
                </a:gridCol>
              </a:tblGrid>
              <a:tr h="2526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Telephely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Eszköz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400" b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Interface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400" b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IPv4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400" b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IPv6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Átjáró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340895"/>
                  </a:ext>
                </a:extLst>
              </a:tr>
              <a:tr h="0">
                <a:tc rowSpan="19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Komplex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R1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33352"/>
                  </a:ext>
                </a:extLst>
              </a:tr>
              <a:tr h="227711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G0/0/0.10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192.168.10.2/24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2001:DB8:30:10::2/64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146556"/>
                  </a:ext>
                </a:extLst>
              </a:tr>
              <a:tr h="170783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G0/0/0.20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192.168.20.2/24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2001:DB8:30:20::2/64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3818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2001:DB8:30:88::1/64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418731"/>
                  </a:ext>
                </a:extLst>
              </a:tr>
              <a:tr h="14232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G0/0/0.99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192.168.99.2/24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2001:DB8:30:99::2/64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526291"/>
                  </a:ext>
                </a:extLst>
              </a:tr>
              <a:tr h="14232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Tunnel 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10.0.1.1/30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203974"/>
                  </a:ext>
                </a:extLst>
              </a:tr>
              <a:tr h="14232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Tunnel 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10.0.2.1/30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6402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  <a:ea typeface="+mn-ea"/>
                          <a:cs typeface="+mn-cs"/>
                          <a:sym typeface="Arial"/>
                        </a:rPr>
                        <a:t>R2</a:t>
                      </a:r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350306"/>
                  </a:ext>
                </a:extLst>
              </a:tr>
              <a:tr h="227711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G0/0/0.10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192.168.10.3/24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2001:DB8:30:10::3/64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866885"/>
                  </a:ext>
                </a:extLst>
              </a:tr>
              <a:tr h="170783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G0/0/0.20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192.168.20.3/24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2001:DB8:30:20::3/64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8881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192.168.88.2/27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2001:DB8:30:88::2/64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450978"/>
                  </a:ext>
                </a:extLst>
              </a:tr>
              <a:tr h="9488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G0/0/0.99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192.168.99.3/24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2001:DB8:30:99::3/64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604363"/>
                  </a:ext>
                </a:extLst>
              </a:tr>
              <a:tr h="142320">
                <a:tc vMerge="1">
                  <a:txBody>
                    <a:bodyPr/>
                    <a:lstStyle/>
                    <a:p>
                      <a:pPr algn="ctr"/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  <a:ea typeface="+mn-ea"/>
                          <a:cs typeface="+mn-cs"/>
                          <a:sym typeface="Arial"/>
                        </a:rPr>
                        <a:t>Asa1</a:t>
                      </a:r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VLAN 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192.168.88.3/27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2001:DB8:30:88::3/64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296871"/>
                  </a:ext>
                </a:extLst>
              </a:tr>
              <a:tr h="142320">
                <a:tc vMerge="1">
                  <a:txBody>
                    <a:bodyPr/>
                    <a:lstStyle/>
                    <a:p>
                      <a:pPr algn="ctr"/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  <a:ea typeface="+mn-ea"/>
                          <a:cs typeface="+mn-cs"/>
                          <a:sym typeface="Arial"/>
                        </a:rPr>
                        <a:t>Asa2</a:t>
                      </a:r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VLAN 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192.168.88.4/27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2001:DB8:30:88::4/64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288071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ctr"/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  <a:ea typeface="+mn-ea"/>
                          <a:cs typeface="+mn-cs"/>
                          <a:sym typeface="Arial"/>
                        </a:rPr>
                        <a:t>Sw1</a:t>
                      </a:r>
                      <a:endParaRPr lang="hu-HU" sz="1400" b="0" i="0" u="none" strike="noStrike" cap="non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VLAN 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192.168.88.5/27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2001:DB8:30:88::5/64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838231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ctr"/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Sw2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VLAN 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192.168.88.6/27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2001:DB8:30:88::6/64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71268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ctr"/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WServer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Ethernet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192.168.99.254/24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2001:DB8:30:99::254/64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192.168.99.1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988674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ctr"/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PC1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Ethernet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973125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b"/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Telefon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Wifi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670862"/>
                  </a:ext>
                </a:extLst>
              </a:tr>
              <a:tr h="127080"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Szerverek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R3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046677"/>
                  </a:ext>
                </a:extLst>
              </a:tr>
              <a:tr h="12708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192.168.199.1/24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2001:DB8:30:199::1/64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54742"/>
                  </a:ext>
                </a:extLst>
              </a:tr>
              <a:tr h="12708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Tunnel 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10.0.1.2/30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362747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S3</a:t>
                      </a: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VLAN 88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192.168.88.7/27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2001:DB8:30:88::7/64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192.168.88.1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600800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LServer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Ethernet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192.168.199.253/24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2001:DB8:30:199::253/64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192.168.199.1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099506"/>
                  </a:ext>
                </a:extLst>
              </a:tr>
              <a:tr h="127080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Raktár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R4</a:t>
                      </a: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G0/0/0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46119"/>
                  </a:ext>
                </a:extLst>
              </a:tr>
              <a:tr h="12708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G0/0/1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192.168.32.1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2001:DB8:30:32::1/64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479020"/>
                  </a:ext>
                </a:extLst>
              </a:tr>
              <a:tr h="127080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Tunnel 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10.0.2.2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-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539734"/>
                  </a:ext>
                </a:extLst>
              </a:tr>
              <a:tr h="236104">
                <a:tc vMerge="1"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AP</a:t>
                      </a: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Ethernet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192.168.32.101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2001:DB8:30:32::101/64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192.168.32.1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891106"/>
                  </a:ext>
                </a:extLst>
              </a:tr>
              <a:tr h="2361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Csomagpont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IOT</a:t>
                      </a:r>
                    </a:p>
                  </a:txBody>
                  <a:tcPr marL="7034" marR="7034" marT="7034" marB="33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Ethernet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DHCPv6</a:t>
                      </a:r>
                      <a:endParaRPr lang="hu-HU" sz="1400" b="0" i="0" u="none" strike="noStrike" dirty="0">
                        <a:solidFill>
                          <a:srgbClr val="FFFFFF"/>
                        </a:solidFill>
                        <a:effectLst/>
                        <a:latin typeface="Instrument Sans Medium" panose="020B0604020202020204" charset="0"/>
                      </a:endParaRP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Instrument Sans Medium" panose="020B0604020202020204" charset="0"/>
                        </a:rPr>
                        <a:t>DHCP</a:t>
                      </a:r>
                    </a:p>
                  </a:txBody>
                  <a:tcPr marL="7034" marR="7034" marT="7034" marB="3376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63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086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Redundancia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833A2B6-DDE3-8545-E413-C0072205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37" y="928138"/>
            <a:ext cx="3742198" cy="171045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0AE6EA5-4F4C-D248-10B7-B602D2EE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127" y="928138"/>
            <a:ext cx="4706008" cy="574548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B0CF1F08-1A01-C273-776E-9E445050B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110" y="917500"/>
            <a:ext cx="4706007" cy="573485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91C98018-B669-9182-A397-DE7678FFA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037" y="2751592"/>
            <a:ext cx="385816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4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Redundancia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 descr="A képen szöveg, képernyőkép, Betűtípus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2FFC44A-F719-3BCA-57E4-4C7D6A8DB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26" t="7365" r="13259" b="7368"/>
          <a:stretch/>
        </p:blipFill>
        <p:spPr>
          <a:xfrm>
            <a:off x="127531" y="806745"/>
            <a:ext cx="2799307" cy="3531557"/>
          </a:xfrm>
          <a:prstGeom prst="rect">
            <a:avLst/>
          </a:prstGeom>
        </p:spPr>
      </p:pic>
      <p:pic>
        <p:nvPicPr>
          <p:cNvPr id="7" name="Kép 6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EBC2C0E-A849-0B44-6824-8B43787557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1" t="4911" r="8998" b="8993"/>
          <a:stretch/>
        </p:blipFill>
        <p:spPr>
          <a:xfrm>
            <a:off x="6004011" y="3438525"/>
            <a:ext cx="3794060" cy="3619971"/>
          </a:xfrm>
          <a:prstGeom prst="rect">
            <a:avLst/>
          </a:prstGeom>
        </p:spPr>
      </p:pic>
      <p:pic>
        <p:nvPicPr>
          <p:cNvPr id="9" name="Kép 8" descr="A képen szöveg, képernyőkép, szoftver, Multimédiás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2F6ECEE-BC7A-69B0-BE4A-662693655F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83" t="5008" r="9018" b="5316"/>
          <a:stretch/>
        </p:blipFill>
        <p:spPr>
          <a:xfrm>
            <a:off x="9879470" y="3438525"/>
            <a:ext cx="3806228" cy="3619971"/>
          </a:xfrm>
          <a:prstGeom prst="rect">
            <a:avLst/>
          </a:prstGeom>
        </p:spPr>
      </p:pic>
      <p:pic>
        <p:nvPicPr>
          <p:cNvPr id="4" name="Kép 3" descr="A képen szöveg, képernyőkép, Betűtípus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BE5CC46-CAA1-9618-C78E-C11B2E26B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26" t="7365" r="13259" b="7368"/>
          <a:stretch/>
        </p:blipFill>
        <p:spPr>
          <a:xfrm>
            <a:off x="3123305" y="806745"/>
            <a:ext cx="2799307" cy="35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37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Routing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CFE6C0D-8089-1895-09C8-BAB30B20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50" y="842641"/>
            <a:ext cx="5372850" cy="460121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C1AEEA02-C051-EF94-4BAD-40F174BC4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850" y="852167"/>
            <a:ext cx="5372850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55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SSH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B84634F-BB4E-DE14-4639-F3EAA0BD431F}"/>
              </a:ext>
            </a:extLst>
          </p:cNvPr>
          <p:cNvSpPr txBox="1"/>
          <p:nvPr/>
        </p:nvSpPr>
        <p:spPr>
          <a:xfrm>
            <a:off x="4114800" y="1800225"/>
            <a:ext cx="2790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chemeClr val="bg1"/>
                </a:solidFill>
              </a:rPr>
              <a:t>todo</a:t>
            </a:r>
            <a:endParaRPr lang="hu-H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10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Portsecurity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A2E940A-314A-9A12-3C8A-D482552BA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" y="823784"/>
            <a:ext cx="3315163" cy="183858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50762FA-064B-DF19-CAFC-7DD4389F2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566" y="842837"/>
            <a:ext cx="317226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26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VPN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27580BF-B85D-810B-FE9F-EB7D4579B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50" y="928138"/>
            <a:ext cx="7916380" cy="391532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164BB2D-EEF2-1889-0702-A950B2ECD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50" y="5067497"/>
            <a:ext cx="4628273" cy="97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8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ASA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24773E6-8ACE-0642-ED8F-69DC8DFBE11A}"/>
              </a:ext>
            </a:extLst>
          </p:cNvPr>
          <p:cNvSpPr txBox="1"/>
          <p:nvPr/>
        </p:nvSpPr>
        <p:spPr>
          <a:xfrm>
            <a:off x="739739" y="1643865"/>
            <a:ext cx="4841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TODO – cisco </a:t>
            </a:r>
            <a:r>
              <a:rPr lang="en-US" sz="2000" dirty="0" err="1">
                <a:solidFill>
                  <a:schemeClr val="bg1"/>
                </a:solidFill>
              </a:rPr>
              <a:t>nyomorék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és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letilt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mindent</a:t>
            </a:r>
            <a:endParaRPr lang="hu-H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425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A2A9293C-1C97-592E-6A95-EE1F47C616C6}"/>
              </a:ext>
            </a:extLst>
          </p:cNvPr>
          <p:cNvSpPr/>
          <p:nvPr/>
        </p:nvSpPr>
        <p:spPr>
          <a:xfrm>
            <a:off x="1469203" y="1726057"/>
            <a:ext cx="6411073" cy="27174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B5BCD34A-C558-2630-AF4E-FFAEFFB8ADC9}"/>
              </a:ext>
            </a:extLst>
          </p:cNvPr>
          <p:cNvSpPr/>
          <p:nvPr/>
        </p:nvSpPr>
        <p:spPr>
          <a:xfrm>
            <a:off x="1469203" y="4596068"/>
            <a:ext cx="6411075" cy="26194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DF512B3E-E1A4-EF6C-98C8-E32E567A8D00}"/>
              </a:ext>
            </a:extLst>
          </p:cNvPr>
          <p:cNvSpPr/>
          <p:nvPr/>
        </p:nvSpPr>
        <p:spPr>
          <a:xfrm>
            <a:off x="5455578" y="2749852"/>
            <a:ext cx="2085653" cy="34418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nstrument Sans Medium" panose="020B0604020202020204" charset="0"/>
              </a:rPr>
              <a:t>Laptop 2</a:t>
            </a:r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242A32B2-E6E5-9089-8AA9-E689B608B56D}"/>
              </a:ext>
            </a:extLst>
          </p:cNvPr>
          <p:cNvSpPr/>
          <p:nvPr/>
        </p:nvSpPr>
        <p:spPr>
          <a:xfrm>
            <a:off x="5219272" y="3016980"/>
            <a:ext cx="2198670" cy="11301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nstrument Sans Medium" panose="020B0604020202020204" charset="0"/>
              </a:rPr>
              <a:t>Windows Server</a:t>
            </a:r>
          </a:p>
          <a:p>
            <a:pPr algn="ctr"/>
            <a:r>
              <a:rPr lang="en-US" sz="1600" dirty="0">
                <a:latin typeface="Instrument Sans Medium" panose="020B0604020202020204" charset="0"/>
              </a:rPr>
              <a:t>VM</a:t>
            </a:r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13888A7F-386D-54BA-DD59-299DF28DC430}"/>
              </a:ext>
            </a:extLst>
          </p:cNvPr>
          <p:cNvSpPr/>
          <p:nvPr/>
        </p:nvSpPr>
        <p:spPr>
          <a:xfrm>
            <a:off x="5219272" y="4775573"/>
            <a:ext cx="2198670" cy="11301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nstrument Sans Medium" panose="020B0604020202020204" charset="0"/>
              </a:rPr>
              <a:t>Linux Server</a:t>
            </a:r>
          </a:p>
          <a:p>
            <a:pPr algn="ctr"/>
            <a:r>
              <a:rPr lang="en-US" sz="1600" dirty="0">
                <a:latin typeface="Instrument Sans Medium" panose="020B0604020202020204" charset="0"/>
              </a:rPr>
              <a:t>VM</a:t>
            </a:r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C8E63704-15BF-FE0D-89EB-0C94406C2AB1}"/>
              </a:ext>
            </a:extLst>
          </p:cNvPr>
          <p:cNvSpPr/>
          <p:nvPr/>
        </p:nvSpPr>
        <p:spPr>
          <a:xfrm>
            <a:off x="4397340" y="3366300"/>
            <a:ext cx="1130157" cy="43151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nstrument Sans Medium" panose="020B0604020202020204" charset="0"/>
              </a:rPr>
              <a:t>Ethernet</a:t>
            </a:r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CE355121-5246-A3AC-48F6-28B9E9D46535}"/>
              </a:ext>
            </a:extLst>
          </p:cNvPr>
          <p:cNvSpPr/>
          <p:nvPr/>
        </p:nvSpPr>
        <p:spPr>
          <a:xfrm>
            <a:off x="4397339" y="4994613"/>
            <a:ext cx="1130157" cy="66368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nstrument Sans Medium" panose="020B0604020202020204" charset="0"/>
              </a:rPr>
              <a:t>USB-C </a:t>
            </a:r>
            <a:r>
              <a:rPr lang="en-US" sz="1600" dirty="0" err="1">
                <a:latin typeface="Instrument Sans Medium" panose="020B0604020202020204" charset="0"/>
              </a:rPr>
              <a:t>átalakító</a:t>
            </a:r>
            <a:endParaRPr lang="hu-HU" sz="1600" dirty="0">
              <a:latin typeface="Instrument Sans Medium" panose="020B0604020202020204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E98BAF8-15D3-50F7-6090-AE6A17A02464}"/>
              </a:ext>
            </a:extLst>
          </p:cNvPr>
          <p:cNvSpPr txBox="1"/>
          <p:nvPr/>
        </p:nvSpPr>
        <p:spPr>
          <a:xfrm>
            <a:off x="1726058" y="2085654"/>
            <a:ext cx="208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strument Sans Medium" panose="020B0604020202020204" charset="0"/>
              </a:rPr>
              <a:t>1. Telephely</a:t>
            </a:r>
            <a:endParaRPr lang="hu-HU" sz="2400" b="1" dirty="0">
              <a:latin typeface="Instrument Sans Medium" panose="020B0604020202020204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646DC18-319A-E7FF-133E-431AA73B8FE0}"/>
              </a:ext>
            </a:extLst>
          </p:cNvPr>
          <p:cNvSpPr txBox="1"/>
          <p:nvPr/>
        </p:nvSpPr>
        <p:spPr>
          <a:xfrm>
            <a:off x="1679826" y="4853680"/>
            <a:ext cx="208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strument Sans Medium" panose="020B0604020202020204" charset="0"/>
              </a:rPr>
              <a:t>2. Telephely</a:t>
            </a:r>
            <a:endParaRPr lang="hu-HU" sz="2400" b="1" dirty="0">
              <a:latin typeface="Instrument Sans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412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 AD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A149AB4-7790-540F-7305-36B4ACD72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50" y="928138"/>
            <a:ext cx="5806943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1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– AD – Automata </a:t>
            </a: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telepítés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 descr="A képen szöveg, szoftver, Számítógépes ikon, Webla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CA39181-33F2-936D-7432-67D110812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9" y="1004839"/>
            <a:ext cx="6805250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79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 DHCP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11" name="Kép 10" descr="A képen szöveg, képernyőkép, szoftver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C903049-4D19-4D9C-C4A4-BC4ED56B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4" y="1197199"/>
            <a:ext cx="6310544" cy="2809722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0C92FEE4-DD07-36C5-F7E3-E1B78E44C20C}"/>
              </a:ext>
            </a:extLst>
          </p:cNvPr>
          <p:cNvSpPr txBox="1"/>
          <p:nvPr/>
        </p:nvSpPr>
        <p:spPr>
          <a:xfrm>
            <a:off x="1541124" y="4723016"/>
            <a:ext cx="19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TODO: DHCPv6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68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 DNS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 descr="A képen szöveg, szoftver, Számítógépes ikon, Webla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E5C46D4-0C2E-B5A4-0DC2-87BF390BF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9" y="4114800"/>
            <a:ext cx="7647287" cy="3898617"/>
          </a:xfrm>
          <a:prstGeom prst="rect">
            <a:avLst/>
          </a:prstGeom>
        </p:spPr>
      </p:pic>
      <p:pic>
        <p:nvPicPr>
          <p:cNvPr id="7" name="Kép 6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7035C40-B3FA-8278-FC78-61EAEC5D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50" y="1291345"/>
            <a:ext cx="8317405" cy="27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37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 </a:t>
            </a: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Weboldalak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5" name="Kép 4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57B94F0-2D9F-3D07-AD87-C0723581B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9" y="822775"/>
            <a:ext cx="6858594" cy="1303133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4319AE4-1845-D8EA-FE72-48B2073AC848}"/>
              </a:ext>
            </a:extLst>
          </p:cNvPr>
          <p:cNvSpPr txBox="1"/>
          <p:nvPr/>
        </p:nvSpPr>
        <p:spPr>
          <a:xfrm>
            <a:off x="3061698" y="3739792"/>
            <a:ext cx="636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TODO: </a:t>
            </a:r>
            <a:r>
              <a:rPr lang="en-US" sz="1800" dirty="0" err="1">
                <a:solidFill>
                  <a:schemeClr val="bg1"/>
                </a:solidFill>
              </a:rPr>
              <a:t>valaki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elbaszta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eszköz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configokat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nem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mutatható</a:t>
            </a:r>
            <a:r>
              <a:rPr lang="en-US" sz="1800" dirty="0">
                <a:solidFill>
                  <a:schemeClr val="bg1"/>
                </a:solidFill>
              </a:rPr>
              <a:t> a </a:t>
            </a:r>
            <a:r>
              <a:rPr lang="en-US" sz="1800" dirty="0" err="1">
                <a:solidFill>
                  <a:schemeClr val="bg1"/>
                </a:solidFill>
              </a:rPr>
              <a:t>weboldal</a:t>
            </a:r>
            <a:endParaRPr lang="hu-H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811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455E3A2A-69B0-7BE5-B421-38F9018CB0DE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0DB05B88-F4BF-9D3B-395B-7641B4B658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Ellipszis 133">
            <a:extLst>
              <a:ext uri="{FF2B5EF4-FFF2-40B4-BE49-F238E27FC236}">
                <a16:creationId xmlns:a16="http://schemas.microsoft.com/office/drawing/2014/main" id="{44AB7B53-CAD7-D8B7-6E7F-9FBA98FB9B6A}"/>
              </a:ext>
            </a:extLst>
          </p:cNvPr>
          <p:cNvSpPr/>
          <p:nvPr/>
        </p:nvSpPr>
        <p:spPr>
          <a:xfrm>
            <a:off x="14072886" y="192998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5" name="Google Shape;205;p22">
            <a:extLst>
              <a:ext uri="{FF2B5EF4-FFF2-40B4-BE49-F238E27FC236}">
                <a16:creationId xmlns:a16="http://schemas.microsoft.com/office/drawing/2014/main" id="{E99AB17B-460A-1EEF-CBF4-D409D291D6BA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 err="1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Szerverek</a:t>
            </a: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- Samba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136" name="Egyenes összekötő nyíllal 135">
            <a:extLst>
              <a:ext uri="{FF2B5EF4-FFF2-40B4-BE49-F238E27FC236}">
                <a16:creationId xmlns:a16="http://schemas.microsoft.com/office/drawing/2014/main" id="{2BC5D6CB-3C69-164C-6BEA-B702A9127536}"/>
              </a:ext>
            </a:extLst>
          </p:cNvPr>
          <p:cNvCxnSpPr>
            <a:cxnSpLocks/>
          </p:cNvCxnSpPr>
          <p:nvPr/>
        </p:nvCxnSpPr>
        <p:spPr>
          <a:xfrm>
            <a:off x="14226386" y="617741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Ellipszis 138">
            <a:extLst>
              <a:ext uri="{FF2B5EF4-FFF2-40B4-BE49-F238E27FC236}">
                <a16:creationId xmlns:a16="http://schemas.microsoft.com/office/drawing/2014/main" id="{F6D6F9EE-F9CF-5BE9-1B66-5EA7810A0A7D}"/>
              </a:ext>
            </a:extLst>
          </p:cNvPr>
          <p:cNvSpPr/>
          <p:nvPr/>
        </p:nvSpPr>
        <p:spPr>
          <a:xfrm>
            <a:off x="14072886" y="-8626587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0" name="Egyenes összekötő nyíllal 139">
            <a:extLst>
              <a:ext uri="{FF2B5EF4-FFF2-40B4-BE49-F238E27FC236}">
                <a16:creationId xmlns:a16="http://schemas.microsoft.com/office/drawing/2014/main" id="{ED849111-E869-51F4-F35A-08596ACC029F}"/>
              </a:ext>
            </a:extLst>
          </p:cNvPr>
          <p:cNvCxnSpPr>
            <a:cxnSpLocks/>
          </p:cNvCxnSpPr>
          <p:nvPr/>
        </p:nvCxnSpPr>
        <p:spPr>
          <a:xfrm>
            <a:off x="14227668" y="-8252937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gyenes összekötő nyíllal 140">
            <a:extLst>
              <a:ext uri="{FF2B5EF4-FFF2-40B4-BE49-F238E27FC236}">
                <a16:creationId xmlns:a16="http://schemas.microsoft.com/office/drawing/2014/main" id="{F6C0BF82-784B-9E85-DBC2-88C6ADD1CA32}"/>
              </a:ext>
            </a:extLst>
          </p:cNvPr>
          <p:cNvCxnSpPr>
            <a:cxnSpLocks/>
          </p:cNvCxnSpPr>
          <p:nvPr/>
        </p:nvCxnSpPr>
        <p:spPr>
          <a:xfrm>
            <a:off x="14203086" y="-17126555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Google Shape;205;p22">
            <a:extLst>
              <a:ext uri="{FF2B5EF4-FFF2-40B4-BE49-F238E27FC236}">
                <a16:creationId xmlns:a16="http://schemas.microsoft.com/office/drawing/2014/main" id="{91E9643C-4D94-F4AE-BC06-085FA914E0CD}"/>
              </a:ext>
            </a:extLst>
          </p:cNvPr>
          <p:cNvSpPr/>
          <p:nvPr/>
        </p:nvSpPr>
        <p:spPr>
          <a:xfrm>
            <a:off x="1264556" y="8237447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hu-HU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Vezeték Nélküli Hálózat</a:t>
            </a:r>
          </a:p>
        </p:txBody>
      </p:sp>
      <p:pic>
        <p:nvPicPr>
          <p:cNvPr id="7" name="Kép 6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9423335-94CC-01C2-2520-E688A4AC8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50" y="850524"/>
            <a:ext cx="5799323" cy="3055885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0DE1AA5-A8F8-D828-6C2C-332ADDC42599}"/>
              </a:ext>
            </a:extLst>
          </p:cNvPr>
          <p:cNvSpPr txBox="1"/>
          <p:nvPr/>
        </p:nvSpPr>
        <p:spPr>
          <a:xfrm>
            <a:off x="945225" y="6000107"/>
            <a:ext cx="636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TODO: </a:t>
            </a:r>
            <a:r>
              <a:rPr lang="en-US" sz="1800" dirty="0" err="1">
                <a:solidFill>
                  <a:schemeClr val="bg1"/>
                </a:solidFill>
              </a:rPr>
              <a:t>valaki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elbaszta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eszköz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configokat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nem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mutatható</a:t>
            </a:r>
            <a:r>
              <a:rPr lang="en-US" sz="1800" dirty="0">
                <a:solidFill>
                  <a:schemeClr val="bg1"/>
                </a:solidFill>
              </a:rPr>
              <a:t> a </a:t>
            </a:r>
            <a:r>
              <a:rPr lang="en-US" sz="1800" dirty="0" err="1">
                <a:solidFill>
                  <a:schemeClr val="bg1"/>
                </a:solidFill>
              </a:rPr>
              <a:t>kliens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gépen</a:t>
            </a:r>
            <a:r>
              <a:rPr lang="en-US" sz="1800" dirty="0">
                <a:solidFill>
                  <a:schemeClr val="bg1"/>
                </a:solidFill>
              </a:rPr>
              <a:t> a </a:t>
            </a:r>
            <a:r>
              <a:rPr lang="en-US" sz="1800" dirty="0" err="1">
                <a:solidFill>
                  <a:schemeClr val="bg1"/>
                </a:solidFill>
              </a:rPr>
              <a:t>meghajtó</a:t>
            </a:r>
            <a:endParaRPr lang="hu-H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70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21">
            <a:extLst>
              <a:ext uri="{FF2B5EF4-FFF2-40B4-BE49-F238E27FC236}">
                <a16:creationId xmlns:a16="http://schemas.microsoft.com/office/drawing/2014/main" id="{9B6933E6-7664-4F9F-F0A4-705C6066699C}"/>
              </a:ext>
            </a:extLst>
          </p:cNvPr>
          <p:cNvSpPr/>
          <p:nvPr/>
        </p:nvSpPr>
        <p:spPr>
          <a:xfrm>
            <a:off x="0" y="0"/>
            <a:ext cx="14630400" cy="704100"/>
          </a:xfrm>
          <a:prstGeom prst="rect">
            <a:avLst/>
          </a:prstGeom>
          <a:solidFill>
            <a:srgbClr val="061A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198;p21" title="logo.png">
            <a:extLst>
              <a:ext uri="{FF2B5EF4-FFF2-40B4-BE49-F238E27FC236}">
                <a16:creationId xmlns:a16="http://schemas.microsoft.com/office/drawing/2014/main" id="{1FB02787-C0D9-6A57-139B-08A83AC45D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950" y="224038"/>
            <a:ext cx="768096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llipszis 3">
            <a:extLst>
              <a:ext uri="{FF2B5EF4-FFF2-40B4-BE49-F238E27FC236}">
                <a16:creationId xmlns:a16="http://schemas.microsoft.com/office/drawing/2014/main" id="{65D8D156-8F17-A06A-DD4E-8DCFBBF12337}"/>
              </a:ext>
            </a:extLst>
          </p:cNvPr>
          <p:cNvSpPr/>
          <p:nvPr/>
        </p:nvSpPr>
        <p:spPr>
          <a:xfrm>
            <a:off x="14072886" y="-8652199"/>
            <a:ext cx="309564" cy="30638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Google Shape;205;p22">
            <a:extLst>
              <a:ext uri="{FF2B5EF4-FFF2-40B4-BE49-F238E27FC236}">
                <a16:creationId xmlns:a16="http://schemas.microsoft.com/office/drawing/2014/main" id="{F9FF363B-C27C-FD1E-B5FB-8830D3DCA3CF}"/>
              </a:ext>
            </a:extLst>
          </p:cNvPr>
          <p:cNvSpPr/>
          <p:nvPr/>
        </p:nvSpPr>
        <p:spPr>
          <a:xfrm>
            <a:off x="1257300" y="584"/>
            <a:ext cx="13373099" cy="70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Instrument Sans Medium"/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Project management - GitHub</a:t>
            </a:r>
            <a:endParaRPr lang="hu-HU" sz="3200" dirty="0">
              <a:solidFill>
                <a:srgbClr val="FEFEFE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094658CD-EA97-709D-66F0-8B3EB4BD83A0}"/>
              </a:ext>
            </a:extLst>
          </p:cNvPr>
          <p:cNvCxnSpPr>
            <a:cxnSpLocks/>
          </p:cNvCxnSpPr>
          <p:nvPr/>
        </p:nvCxnSpPr>
        <p:spPr>
          <a:xfrm>
            <a:off x="14226386" y="-8227456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zis 7">
            <a:extLst>
              <a:ext uri="{FF2B5EF4-FFF2-40B4-BE49-F238E27FC236}">
                <a16:creationId xmlns:a16="http://schemas.microsoft.com/office/drawing/2014/main" id="{F10DDC7C-8064-899A-678B-5FA236F1C6B4}"/>
              </a:ext>
            </a:extLst>
          </p:cNvPr>
          <p:cNvSpPr/>
          <p:nvPr/>
        </p:nvSpPr>
        <p:spPr>
          <a:xfrm>
            <a:off x="14072886" y="189836"/>
            <a:ext cx="309564" cy="306382"/>
          </a:xfrm>
          <a:prstGeom prst="ellipse">
            <a:avLst/>
          </a:prstGeom>
          <a:solidFill>
            <a:srgbClr val="00C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A4A2E7A6-4C89-63FD-0863-110AF9FD9EA9}"/>
              </a:ext>
            </a:extLst>
          </p:cNvPr>
          <p:cNvCxnSpPr>
            <a:cxnSpLocks/>
          </p:cNvCxnSpPr>
          <p:nvPr/>
        </p:nvCxnSpPr>
        <p:spPr>
          <a:xfrm>
            <a:off x="14225104" y="629093"/>
            <a:ext cx="0" cy="8210550"/>
          </a:xfrm>
          <a:prstGeom prst="straightConnector1">
            <a:avLst/>
          </a:prstGeom>
          <a:ln w="69850" cap="sq">
            <a:solidFill>
              <a:schemeClr val="bg1"/>
            </a:solidFill>
            <a:miter lim="800000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>
            <a:extLst>
              <a:ext uri="{FF2B5EF4-FFF2-40B4-BE49-F238E27FC236}">
                <a16:creationId xmlns:a16="http://schemas.microsoft.com/office/drawing/2014/main" id="{10DA1B16-CD5A-F037-DD2A-F3D01AC65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9" y="854860"/>
            <a:ext cx="11300203" cy="720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8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4. egyéni séma">
      <a:dk1>
        <a:srgbClr val="171616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2541</TotalTime>
  <Words>1131</Words>
  <Application>Microsoft Office PowerPoint</Application>
  <PresentationFormat>Egyéni</PresentationFormat>
  <Paragraphs>382</Paragraphs>
  <Slides>31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6" baseType="lpstr">
      <vt:lpstr>Instrument Sans Medium</vt:lpstr>
      <vt:lpstr>Arial</vt:lpstr>
      <vt:lpstr>Calibri</vt:lpstr>
      <vt:lpstr>Open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Ádám Tóth</cp:lastModifiedBy>
  <cp:revision>144</cp:revision>
  <dcterms:modified xsi:type="dcterms:W3CDTF">2026-03-04T09:08:24Z</dcterms:modified>
</cp:coreProperties>
</file>