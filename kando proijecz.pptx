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6"/>
  </p:notesMasterIdLst>
  <p:handoutMasterIdLst>
    <p:handoutMasterId r:id="rId7"/>
  </p:handoutMasterIdLst>
  <p:sldIdLst>
    <p:sldId id="257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" id="{8B8C82EB-45C4-43B0-9463-4CFEC38BE6ED}">
          <p14:sldIdLst>
            <p14:sldId id="257"/>
          </p14:sldIdLst>
        </p14:section>
        <p14:section name="1. Telephely" id="{5FABB45A-87A4-4B7B-A2A5-6377C82CEC7B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C2FF"/>
    <a:srgbClr val="344529"/>
    <a:srgbClr val="2B3922"/>
    <a:srgbClr val="2E3722"/>
    <a:srgbClr val="FCF7F1"/>
    <a:srgbClr val="B8D233"/>
    <a:srgbClr val="5CC6D6"/>
    <a:srgbClr val="F8D22F"/>
    <a:srgbClr val="F03F2B"/>
    <a:srgbClr val="348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9" autoAdjust="0"/>
    <p:restoredTop sz="96449" autoAdjust="0"/>
  </p:normalViewPr>
  <p:slideViewPr>
    <p:cSldViewPr snapToGrid="0">
      <p:cViewPr varScale="1">
        <p:scale>
          <a:sx n="98" d="100"/>
          <a:sy n="98" d="100"/>
        </p:scale>
        <p:origin x="144" y="3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27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14DCE5-411A-4E42-AD3C-2494A4EAE779}" type="datetime1">
              <a:rPr lang="hu-HU" smtClean="0"/>
              <a:t>2025. 11. 12.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368516-3842-4620-B9B3-67F535CB3A5D}" type="datetime1">
              <a:rPr lang="hu-HU" smtClean="0"/>
              <a:t>2025. 11. 12.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9368516-3842-4620-B9B3-67F535CB3A5D}" type="datetime1">
              <a:rPr lang="hu-HU" smtClean="0"/>
              <a:t>2025. 11. 12.</a:t>
            </a:fld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52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9368516-3842-4620-B9B3-67F535CB3A5D}" type="datetime1">
              <a:rPr lang="hu-HU" smtClean="0"/>
              <a:t>2025. 11. 12.</a:t>
            </a:fld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72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9368516-3842-4620-B9B3-67F535CB3A5D}" type="datetime1">
              <a:rPr lang="hu-HU" smtClean="0"/>
              <a:t>2025. 11. 12.</a:t>
            </a:fld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29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79368516-3842-4620-B9B3-67F535CB3A5D}" type="datetime1">
              <a:rPr lang="hu-HU" smtClean="0"/>
              <a:t>2025. 11. 12.</a:t>
            </a:fld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7A705E3-E620-489D-9973-6221209A4B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61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8BDBE0D-D7BD-4B72-8656-1BA1EE15204D}" type="datetime1">
              <a:rPr lang="hu-HU" smtClean="0"/>
              <a:t>2025. 11. 12.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6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B7A52B9-A8AB-438E-B534-4C40C3A9E74F}" type="datetime1">
              <a:rPr lang="hu-HU" smtClean="0"/>
              <a:t>2025. 11. 12.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11F62F7-5E21-4DF6-AD45-F2360C22BAAE}" type="datetime1">
              <a:rPr lang="hu-HU" smtClean="0"/>
              <a:t>2025. 11. 12.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36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150E88-5DA4-48FE-971C-3A8E0386704F}" type="datetime1">
              <a:rPr lang="hu-HU" smtClean="0"/>
              <a:t>2025. 11. 12.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454689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2B1E64E-AF4C-4D8A-B1A2-6376454CC97D}" type="datetime1">
              <a:rPr lang="hu-HU" smtClean="0"/>
              <a:t>2025. 11. 12.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3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D377358-1C37-4F07-9A78-BAC0F950DA57}" type="datetime1">
              <a:rPr lang="hu-HU" smtClean="0"/>
              <a:t>2025. 11. 12.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05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FCB3493-9A23-4FBB-AEE0-C0E6D5F3648B}" type="datetime1">
              <a:rPr lang="hu-HU" smtClean="0"/>
              <a:t>2025. 11. 12.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0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45F6E80-D825-48C2-9648-1D1B31372F92}" type="datetime1">
              <a:rPr lang="hu-HU" smtClean="0"/>
              <a:t>2025. 11. 12.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977A4C8-8FD0-44EA-A473-E0338D05B7ED}" type="datetime1">
              <a:rPr lang="hu-HU" smtClean="0"/>
              <a:t>2025. 11. 12.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7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8164A21-2A73-421C-B26A-59E41BBEFBEB}" type="datetime1">
              <a:rPr lang="hu-HU" smtClean="0"/>
              <a:t>2025. 11. 12.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79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27CBEE9-063A-466D-A69B-CD20FA75015F}" type="datetime1">
              <a:rPr lang="hu-HU" smtClean="0"/>
              <a:t>2025. 11. 12.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64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0150E88-5DA4-48FE-971C-3A8E0386704F}" type="datetime1">
              <a:rPr lang="hu-HU" smtClean="0"/>
              <a:t>2025. 11. 12.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9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en-US" sz="4400" dirty="0">
                <a:solidFill>
                  <a:schemeClr val="tx1"/>
                </a:solidFill>
              </a:rPr>
              <a:t>Project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 err="1">
                <a:solidFill>
                  <a:schemeClr val="tx1"/>
                </a:solidFill>
              </a:rPr>
              <a:t>PaceX</a:t>
            </a:r>
            <a:endParaRPr lang="hu" sz="4400" dirty="0">
              <a:solidFill>
                <a:schemeClr val="tx1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By chamber n </a:t>
            </a:r>
            <a:r>
              <a:rPr lang="en-US" dirty="0" err="1">
                <a:solidFill>
                  <a:schemeClr val="tx1"/>
                </a:solidFill>
              </a:rPr>
              <a:t>adam</a:t>
            </a:r>
            <a:endParaRPr lang="h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 16">
            <a:extLst>
              <a:ext uri="{FF2B5EF4-FFF2-40B4-BE49-F238E27FC236}">
                <a16:creationId xmlns:a16="http://schemas.microsoft.com/office/drawing/2014/main" id="{F9BE7A27-810B-DED5-7AD7-94B39955F6FF}"/>
              </a:ext>
            </a:extLst>
          </p:cNvPr>
          <p:cNvSpPr/>
          <p:nvPr/>
        </p:nvSpPr>
        <p:spPr>
          <a:xfrm>
            <a:off x="13267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3716C494-F94C-3CF1-EB52-52E32FEA0B67}"/>
              </a:ext>
            </a:extLst>
          </p:cNvPr>
          <p:cNvSpPr/>
          <p:nvPr/>
        </p:nvSpPr>
        <p:spPr>
          <a:xfrm>
            <a:off x="550409" y="1119869"/>
            <a:ext cx="2386012" cy="4258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71766E-7D67-80F9-89DC-9EBDC42D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338"/>
            <a:ext cx="3758292" cy="719481"/>
          </a:xfrm>
        </p:spPr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Telephely</a:t>
            </a:r>
            <a:endParaRPr lang="hu-HU" b="1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BF10926-8BA8-A31C-B550-1614DD1F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48" r="58715" b="-29"/>
          <a:stretch/>
        </p:blipFill>
        <p:spPr>
          <a:xfrm>
            <a:off x="381001" y="2759548"/>
            <a:ext cx="4455888" cy="3717114"/>
          </a:xfrm>
          <a:prstGeom prst="rect">
            <a:avLst/>
          </a:prstGeom>
        </p:spPr>
      </p:pic>
      <p:sp>
        <p:nvSpPr>
          <p:cNvPr id="19" name="Szövegdoboz 18">
            <a:extLst>
              <a:ext uri="{FF2B5EF4-FFF2-40B4-BE49-F238E27FC236}">
                <a16:creationId xmlns:a16="http://schemas.microsoft.com/office/drawing/2014/main" id="{89611C56-2DB0-F14E-1821-92E9C7C7F4B0}"/>
              </a:ext>
            </a:extLst>
          </p:cNvPr>
          <p:cNvSpPr txBox="1"/>
          <p:nvPr/>
        </p:nvSpPr>
        <p:spPr>
          <a:xfrm>
            <a:off x="544058" y="1071502"/>
            <a:ext cx="15886567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IP </a:t>
            </a:r>
            <a:r>
              <a:rPr lang="en-US" dirty="0" err="1">
                <a:solidFill>
                  <a:schemeClr val="bg1"/>
                </a:solidFill>
              </a:rPr>
              <a:t>címzés</a:t>
            </a:r>
            <a:r>
              <a:rPr lang="en-US" dirty="0">
                <a:solidFill>
                  <a:schemeClr val="bg1"/>
                </a:solidFill>
              </a:rPr>
              <a:t> &amp; </a:t>
            </a:r>
            <a:r>
              <a:rPr lang="hu-HU" dirty="0" err="1">
                <a:solidFill>
                  <a:schemeClr val="bg1"/>
                </a:solidFill>
              </a:rPr>
              <a:t>VLANok</a:t>
            </a:r>
            <a:r>
              <a:rPr lang="en-US" dirty="0">
                <a:solidFill>
                  <a:schemeClr val="bg1"/>
                </a:solidFill>
              </a:rPr>
              <a:t>             </a:t>
            </a:r>
            <a:r>
              <a:rPr lang="hu-HU" dirty="0" err="1"/>
              <a:t>EtherChannel</a:t>
            </a:r>
            <a:r>
              <a:rPr lang="en-US" dirty="0"/>
              <a:t>                                       </a:t>
            </a:r>
            <a:r>
              <a:rPr lang="hu-HU" dirty="0"/>
              <a:t>HSRP</a:t>
            </a:r>
            <a:r>
              <a:rPr lang="en-US" dirty="0"/>
              <a:t>                                               </a:t>
            </a:r>
            <a:r>
              <a:rPr lang="hu-HU" dirty="0"/>
              <a:t>VPN</a:t>
            </a:r>
            <a:r>
              <a:rPr lang="en-US" dirty="0"/>
              <a:t>                                                   </a:t>
            </a:r>
            <a:r>
              <a:rPr lang="hu-HU" dirty="0"/>
              <a:t>ASA</a:t>
            </a:r>
            <a:r>
              <a:rPr lang="en-US" dirty="0"/>
              <a:t>                                            </a:t>
            </a:r>
            <a:r>
              <a:rPr lang="en-US" dirty="0" err="1"/>
              <a:t>Portsecurity</a:t>
            </a:r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728B5EF1-0BF9-CE23-6103-077A1A9F1DF0}"/>
              </a:ext>
            </a:extLst>
          </p:cNvPr>
          <p:cNvSpPr/>
          <p:nvPr/>
        </p:nvSpPr>
        <p:spPr>
          <a:xfrm>
            <a:off x="5009471" y="0"/>
            <a:ext cx="718252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E016D7E8-EA08-9373-D7F7-997BF8721BB3}"/>
              </a:ext>
            </a:extLst>
          </p:cNvPr>
          <p:cNvSpPr/>
          <p:nvPr/>
        </p:nvSpPr>
        <p:spPr>
          <a:xfrm>
            <a:off x="5240731" y="360000"/>
            <a:ext cx="6770294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AD480CD2-91A9-8763-BDCA-DB480D6C3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456049"/>
              </p:ext>
            </p:extLst>
          </p:nvPr>
        </p:nvGraphicFramePr>
        <p:xfrm>
          <a:off x="5238749" y="784054"/>
          <a:ext cx="6770295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637">
                  <a:extLst>
                    <a:ext uri="{9D8B030D-6E8A-4147-A177-3AD203B41FA5}">
                      <a16:colId xmlns:a16="http://schemas.microsoft.com/office/drawing/2014/main" val="2012815027"/>
                    </a:ext>
                  </a:extLst>
                </a:gridCol>
                <a:gridCol w="832657">
                  <a:extLst>
                    <a:ext uri="{9D8B030D-6E8A-4147-A177-3AD203B41FA5}">
                      <a16:colId xmlns:a16="http://schemas.microsoft.com/office/drawing/2014/main" val="2796411897"/>
                    </a:ext>
                  </a:extLst>
                </a:gridCol>
                <a:gridCol w="2164957">
                  <a:extLst>
                    <a:ext uri="{9D8B030D-6E8A-4147-A177-3AD203B41FA5}">
                      <a16:colId xmlns:a16="http://schemas.microsoft.com/office/drawing/2014/main" val="3474665450"/>
                    </a:ext>
                  </a:extLst>
                </a:gridCol>
                <a:gridCol w="2484044">
                  <a:extLst>
                    <a:ext uri="{9D8B030D-6E8A-4147-A177-3AD203B41FA5}">
                      <a16:colId xmlns:a16="http://schemas.microsoft.com/office/drawing/2014/main" val="3307383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Eszköz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VLAN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IPv4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IPv6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782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192.168.30.0/25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2001:db8:30:10::/64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8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192.168.30.128/25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2001:db8:30:20::/64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6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192.168.88.0/28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2001:db8:30:80::/64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85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Router 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  <a:p>
                      <a:r>
                        <a:rPr lang="en-US" dirty="0"/>
                        <a:t>20</a:t>
                      </a:r>
                    </a:p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192.168.30.2</a:t>
                      </a:r>
                    </a:p>
                    <a:p>
                      <a:r>
                        <a:rPr lang="en-US" dirty="0"/>
                        <a:t>192.168.30.130</a:t>
                      </a:r>
                    </a:p>
                    <a:p>
                      <a:r>
                        <a:rPr lang="en-US" dirty="0"/>
                        <a:t>192.168.88.1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2001:db8:30:10::1/64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2001:db8:30:20::1/64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2001:db8:88::1     /64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34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Router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  <a:p>
                      <a:r>
                        <a:rPr lang="en-US" dirty="0"/>
                        <a:t>20</a:t>
                      </a:r>
                    </a:p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192.168.30.3</a:t>
                      </a:r>
                    </a:p>
                    <a:p>
                      <a:r>
                        <a:rPr lang="en-US" dirty="0"/>
                        <a:t>192.168.30.131</a:t>
                      </a:r>
                    </a:p>
                    <a:p>
                      <a:r>
                        <a:rPr lang="en-US" dirty="0"/>
                        <a:t>192.168.88.2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2001:db8:30:10::2/64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2001:db8:30:20::2/64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2001:db8:88::2     /64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2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HSRP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  <a:p>
                      <a:r>
                        <a:rPr lang="en-US" dirty="0"/>
                        <a:t>20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192.168.30.1</a:t>
                      </a:r>
                    </a:p>
                    <a:p>
                      <a:r>
                        <a:rPr lang="en-US" dirty="0"/>
                        <a:t>192.168.30.129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5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Switch 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192.168.88.3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11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Switch 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192.168.88.4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735334"/>
                  </a:ext>
                </a:extLst>
              </a:tr>
            </a:tbl>
          </a:graphicData>
        </a:graphic>
      </p:graphicFrame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BC062BF2-519A-0C73-2588-7CD990A1DA2C}"/>
              </a:ext>
            </a:extLst>
          </p:cNvPr>
          <p:cNvSpPr/>
          <p:nvPr/>
        </p:nvSpPr>
        <p:spPr>
          <a:xfrm>
            <a:off x="5238749" y="6622667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: lekerekített 22">
            <a:extLst>
              <a:ext uri="{FF2B5EF4-FFF2-40B4-BE49-F238E27FC236}">
                <a16:creationId xmlns:a16="http://schemas.microsoft.com/office/drawing/2014/main" id="{0329D8D5-7CE3-0520-AED1-198DC947BC40}"/>
              </a:ext>
            </a:extLst>
          </p:cNvPr>
          <p:cNvSpPr/>
          <p:nvPr/>
        </p:nvSpPr>
        <p:spPr>
          <a:xfrm>
            <a:off x="5244392" y="-11996761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C0D86D45-4AF1-1482-74F2-31F9180A57B3}"/>
              </a:ext>
            </a:extLst>
          </p:cNvPr>
          <p:cNvSpPr/>
          <p:nvPr/>
        </p:nvSpPr>
        <p:spPr>
          <a:xfrm>
            <a:off x="5238000" y="19152000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A285079E-E446-407B-AE88-739B4CBCC740}"/>
              </a:ext>
            </a:extLst>
          </p:cNvPr>
          <p:cNvSpPr/>
          <p:nvPr/>
        </p:nvSpPr>
        <p:spPr>
          <a:xfrm>
            <a:off x="5236768" y="12888000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" name="Téglalap: lekerekített 28">
            <a:extLst>
              <a:ext uri="{FF2B5EF4-FFF2-40B4-BE49-F238E27FC236}">
                <a16:creationId xmlns:a16="http://schemas.microsoft.com/office/drawing/2014/main" id="{77788F46-5184-3AB1-5FBC-44D445E655F8}"/>
              </a:ext>
            </a:extLst>
          </p:cNvPr>
          <p:cNvSpPr/>
          <p:nvPr/>
        </p:nvSpPr>
        <p:spPr>
          <a:xfrm>
            <a:off x="5238000" y="25416000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Téglalap: lekerekített 29">
            <a:extLst>
              <a:ext uri="{FF2B5EF4-FFF2-40B4-BE49-F238E27FC236}">
                <a16:creationId xmlns:a16="http://schemas.microsoft.com/office/drawing/2014/main" id="{722D85E7-FE0F-57FF-CB86-03048822789B}"/>
              </a:ext>
            </a:extLst>
          </p:cNvPr>
          <p:cNvSpPr/>
          <p:nvPr/>
        </p:nvSpPr>
        <p:spPr>
          <a:xfrm>
            <a:off x="5236768" y="31680000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296217F8-CBF5-048B-3F5F-CD93B5B93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241" y="6912428"/>
            <a:ext cx="4443005" cy="2770220"/>
          </a:xfrm>
          <a:prstGeom prst="rect">
            <a:avLst/>
          </a:prstGeom>
        </p:spPr>
      </p:pic>
      <p:pic>
        <p:nvPicPr>
          <p:cNvPr id="32" name="Kép 31">
            <a:extLst>
              <a:ext uri="{FF2B5EF4-FFF2-40B4-BE49-F238E27FC236}">
                <a16:creationId xmlns:a16="http://schemas.microsoft.com/office/drawing/2014/main" id="{41DD8E69-333D-6A72-D718-7FDD5EB15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713" y="9738142"/>
            <a:ext cx="4443005" cy="2752962"/>
          </a:xfrm>
          <a:prstGeom prst="rect">
            <a:avLst/>
          </a:prstGeom>
        </p:spPr>
      </p:pic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AAAE46DE-6EF5-B8DA-8FDC-AEA11135F6A4}"/>
              </a:ext>
            </a:extLst>
          </p:cNvPr>
          <p:cNvSpPr/>
          <p:nvPr/>
        </p:nvSpPr>
        <p:spPr>
          <a:xfrm>
            <a:off x="2648563" y="3930189"/>
            <a:ext cx="0" cy="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18755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 16">
            <a:extLst>
              <a:ext uri="{FF2B5EF4-FFF2-40B4-BE49-F238E27FC236}">
                <a16:creationId xmlns:a16="http://schemas.microsoft.com/office/drawing/2014/main" id="{F9BE7A27-810B-DED5-7AD7-94B39955F6FF}"/>
              </a:ext>
            </a:extLst>
          </p:cNvPr>
          <p:cNvSpPr/>
          <p:nvPr/>
        </p:nvSpPr>
        <p:spPr>
          <a:xfrm>
            <a:off x="0" y="9525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3716C494-F94C-3CF1-EB52-52E32FEA0B67}"/>
              </a:ext>
            </a:extLst>
          </p:cNvPr>
          <p:cNvSpPr/>
          <p:nvPr/>
        </p:nvSpPr>
        <p:spPr>
          <a:xfrm>
            <a:off x="550409" y="1119869"/>
            <a:ext cx="2386012" cy="4258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71766E-7D67-80F9-89DC-9EBDC42D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338"/>
            <a:ext cx="3758292" cy="719481"/>
          </a:xfrm>
        </p:spPr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Telephely</a:t>
            </a:r>
            <a:endParaRPr lang="hu-HU" b="1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BF10926-8BA8-A31C-B550-1614DD1F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48" r="58715" b="-29"/>
          <a:stretch/>
        </p:blipFill>
        <p:spPr>
          <a:xfrm>
            <a:off x="381001" y="2759548"/>
            <a:ext cx="4455888" cy="3717114"/>
          </a:xfrm>
          <a:prstGeom prst="rect">
            <a:avLst/>
          </a:prstGeom>
        </p:spPr>
      </p:pic>
      <p:sp>
        <p:nvSpPr>
          <p:cNvPr id="19" name="Szövegdoboz 18">
            <a:extLst>
              <a:ext uri="{FF2B5EF4-FFF2-40B4-BE49-F238E27FC236}">
                <a16:creationId xmlns:a16="http://schemas.microsoft.com/office/drawing/2014/main" id="{89611C56-2DB0-F14E-1821-92E9C7C7F4B0}"/>
              </a:ext>
            </a:extLst>
          </p:cNvPr>
          <p:cNvSpPr txBox="1"/>
          <p:nvPr/>
        </p:nvSpPr>
        <p:spPr>
          <a:xfrm>
            <a:off x="-1989592" y="1071502"/>
            <a:ext cx="15886567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IP </a:t>
            </a:r>
            <a:r>
              <a:rPr lang="en-US" dirty="0" err="1"/>
              <a:t>címzés</a:t>
            </a:r>
            <a:r>
              <a:rPr lang="en-US" dirty="0"/>
              <a:t> &amp; </a:t>
            </a:r>
            <a:r>
              <a:rPr lang="hu-HU" dirty="0" err="1"/>
              <a:t>VLANok</a:t>
            </a:r>
            <a:r>
              <a:rPr lang="en-US" dirty="0"/>
              <a:t>             </a:t>
            </a:r>
            <a:r>
              <a:rPr lang="hu-HU" dirty="0" err="1">
                <a:solidFill>
                  <a:schemeClr val="bg1"/>
                </a:solidFill>
              </a:rPr>
              <a:t>EtherChannel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                                      </a:t>
            </a:r>
            <a:r>
              <a:rPr lang="hu-HU" dirty="0"/>
              <a:t>HSRP</a:t>
            </a:r>
            <a:r>
              <a:rPr lang="en-US" dirty="0"/>
              <a:t>                                               </a:t>
            </a:r>
            <a:r>
              <a:rPr lang="hu-HU" dirty="0"/>
              <a:t>VPN</a:t>
            </a:r>
            <a:r>
              <a:rPr lang="en-US" dirty="0"/>
              <a:t>                                                   </a:t>
            </a:r>
            <a:r>
              <a:rPr lang="hu-HU" dirty="0"/>
              <a:t>ASA</a:t>
            </a:r>
            <a:r>
              <a:rPr lang="en-US" dirty="0"/>
              <a:t>                                            </a:t>
            </a:r>
            <a:r>
              <a:rPr lang="en-US" dirty="0" err="1"/>
              <a:t>Portsecurity</a:t>
            </a:r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728B5EF1-0BF9-CE23-6103-077A1A9F1DF0}"/>
              </a:ext>
            </a:extLst>
          </p:cNvPr>
          <p:cNvSpPr/>
          <p:nvPr/>
        </p:nvSpPr>
        <p:spPr>
          <a:xfrm>
            <a:off x="5009471" y="0"/>
            <a:ext cx="718252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E016D7E8-EA08-9373-D7F7-997BF8721BB3}"/>
              </a:ext>
            </a:extLst>
          </p:cNvPr>
          <p:cNvSpPr/>
          <p:nvPr/>
        </p:nvSpPr>
        <p:spPr>
          <a:xfrm>
            <a:off x="5246374" y="-5895657"/>
            <a:ext cx="6770294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AD480CD2-91A9-8763-BDCA-DB480D6C3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458372"/>
              </p:ext>
            </p:extLst>
          </p:nvPr>
        </p:nvGraphicFramePr>
        <p:xfrm>
          <a:off x="5244392" y="-5471603"/>
          <a:ext cx="6770295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637">
                  <a:extLst>
                    <a:ext uri="{9D8B030D-6E8A-4147-A177-3AD203B41FA5}">
                      <a16:colId xmlns:a16="http://schemas.microsoft.com/office/drawing/2014/main" val="2012815027"/>
                    </a:ext>
                  </a:extLst>
                </a:gridCol>
                <a:gridCol w="832657">
                  <a:extLst>
                    <a:ext uri="{9D8B030D-6E8A-4147-A177-3AD203B41FA5}">
                      <a16:colId xmlns:a16="http://schemas.microsoft.com/office/drawing/2014/main" val="2796411897"/>
                    </a:ext>
                  </a:extLst>
                </a:gridCol>
                <a:gridCol w="2164957">
                  <a:extLst>
                    <a:ext uri="{9D8B030D-6E8A-4147-A177-3AD203B41FA5}">
                      <a16:colId xmlns:a16="http://schemas.microsoft.com/office/drawing/2014/main" val="3474665450"/>
                    </a:ext>
                  </a:extLst>
                </a:gridCol>
                <a:gridCol w="2484044">
                  <a:extLst>
                    <a:ext uri="{9D8B030D-6E8A-4147-A177-3AD203B41FA5}">
                      <a16:colId xmlns:a16="http://schemas.microsoft.com/office/drawing/2014/main" val="3307383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Eszköz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VLAN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IPv4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IPv6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782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192.168.30.0/25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2001:db8:30:10::/64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8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192.168.30.128/25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2001:db8:30:20::/64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6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192.168.88.0/28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2001:db8:30:80::/64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85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Router 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  <a:p>
                      <a:r>
                        <a:rPr lang="en-US" dirty="0"/>
                        <a:t>20</a:t>
                      </a:r>
                    </a:p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192.168.30.2</a:t>
                      </a:r>
                    </a:p>
                    <a:p>
                      <a:r>
                        <a:rPr lang="en-US" dirty="0"/>
                        <a:t>192.168.30.130</a:t>
                      </a:r>
                    </a:p>
                    <a:p>
                      <a:r>
                        <a:rPr lang="en-US" dirty="0"/>
                        <a:t>192.168.88.1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2001:db8:30:10::1/64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2001:db8:30:20::1/64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2001:db8:88::1     /64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34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Router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  <a:p>
                      <a:r>
                        <a:rPr lang="en-US" dirty="0"/>
                        <a:t>20</a:t>
                      </a:r>
                    </a:p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192.168.30.3</a:t>
                      </a:r>
                    </a:p>
                    <a:p>
                      <a:r>
                        <a:rPr lang="en-US" dirty="0"/>
                        <a:t>192.168.30.131</a:t>
                      </a:r>
                    </a:p>
                    <a:p>
                      <a:r>
                        <a:rPr lang="en-US" dirty="0"/>
                        <a:t>192.168.88.2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2001:db8:30:10::2/64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2001:db8:30:20::2/64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2001:db8:88::2     /64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2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HSRP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  <a:p>
                      <a:r>
                        <a:rPr lang="en-US" dirty="0"/>
                        <a:t>20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192.168.30.1</a:t>
                      </a:r>
                    </a:p>
                    <a:p>
                      <a:r>
                        <a:rPr lang="en-US" dirty="0"/>
                        <a:t>192.168.30.129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5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Switch 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192.168.88.3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11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Switch 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192.168.88.4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735334"/>
                  </a:ext>
                </a:extLst>
              </a:tr>
            </a:tbl>
          </a:graphicData>
        </a:graphic>
      </p:graphicFrame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57979F65-9AD6-EB82-B1D2-D42A4EEC6A6D}"/>
              </a:ext>
            </a:extLst>
          </p:cNvPr>
          <p:cNvSpPr/>
          <p:nvPr/>
        </p:nvSpPr>
        <p:spPr>
          <a:xfrm>
            <a:off x="5244392" y="-11996761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BE12CB4A-5883-DFF9-FE8F-6AD7D2999D8F}"/>
              </a:ext>
            </a:extLst>
          </p:cNvPr>
          <p:cNvSpPr/>
          <p:nvPr/>
        </p:nvSpPr>
        <p:spPr>
          <a:xfrm>
            <a:off x="5238749" y="348867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AAE7B545-5951-0921-9DB4-EA481F3E123A}"/>
              </a:ext>
            </a:extLst>
          </p:cNvPr>
          <p:cNvSpPr/>
          <p:nvPr/>
        </p:nvSpPr>
        <p:spPr>
          <a:xfrm>
            <a:off x="5238000" y="12878200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A1F29F5E-D2D2-065B-395C-2217E4E658AE}"/>
              </a:ext>
            </a:extLst>
          </p:cNvPr>
          <p:cNvSpPr/>
          <p:nvPr/>
        </p:nvSpPr>
        <p:spPr>
          <a:xfrm>
            <a:off x="5236768" y="6614200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DE331E1F-65D9-79EC-5C82-5E073FC1FDED}"/>
              </a:ext>
            </a:extLst>
          </p:cNvPr>
          <p:cNvSpPr/>
          <p:nvPr/>
        </p:nvSpPr>
        <p:spPr>
          <a:xfrm>
            <a:off x="5238000" y="19142200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36AADC06-B6D7-8340-14D9-B5D06B18716B}"/>
              </a:ext>
            </a:extLst>
          </p:cNvPr>
          <p:cNvSpPr/>
          <p:nvPr/>
        </p:nvSpPr>
        <p:spPr>
          <a:xfrm>
            <a:off x="5236768" y="25406200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3" name="Kép 22">
            <a:extLst>
              <a:ext uri="{FF2B5EF4-FFF2-40B4-BE49-F238E27FC236}">
                <a16:creationId xmlns:a16="http://schemas.microsoft.com/office/drawing/2014/main" id="{D155565A-1E4E-528F-71D0-A7BE66929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31" y="657253"/>
            <a:ext cx="4443005" cy="2770220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8022EEEF-A759-1371-7A30-861DDCF29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703" y="3482967"/>
            <a:ext cx="4443005" cy="2752962"/>
          </a:xfrm>
          <a:prstGeom prst="rect">
            <a:avLst/>
          </a:prstGeom>
        </p:spPr>
      </p:pic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74CFA07D-B4B4-3050-BF73-9BD388EC36B0}"/>
              </a:ext>
            </a:extLst>
          </p:cNvPr>
          <p:cNvSpPr/>
          <p:nvPr/>
        </p:nvSpPr>
        <p:spPr>
          <a:xfrm>
            <a:off x="2038350" y="2943225"/>
            <a:ext cx="1266146" cy="2047875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8" name="Kép 27">
            <a:extLst>
              <a:ext uri="{FF2B5EF4-FFF2-40B4-BE49-F238E27FC236}">
                <a16:creationId xmlns:a16="http://schemas.microsoft.com/office/drawing/2014/main" id="{3FBEF941-52BF-BDA3-2DF8-125D8AF41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504" y="6789313"/>
            <a:ext cx="3465172" cy="2951529"/>
          </a:xfrm>
          <a:prstGeom prst="rect">
            <a:avLst/>
          </a:prstGeom>
        </p:spPr>
      </p:pic>
      <p:pic>
        <p:nvPicPr>
          <p:cNvPr id="30" name="Kép 29">
            <a:extLst>
              <a:ext uri="{FF2B5EF4-FFF2-40B4-BE49-F238E27FC236}">
                <a16:creationId xmlns:a16="http://schemas.microsoft.com/office/drawing/2014/main" id="{4C5BC422-4A8E-3E02-EF2E-F6A45ABDE6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9050" y="9068199"/>
            <a:ext cx="4014710" cy="3489851"/>
          </a:xfrm>
          <a:prstGeom prst="rect">
            <a:avLst/>
          </a:prstGeom>
        </p:spPr>
      </p:pic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509729CB-3014-5908-890D-DE0EA38FC9E3}"/>
              </a:ext>
            </a:extLst>
          </p:cNvPr>
          <p:cNvSpPr/>
          <p:nvPr/>
        </p:nvSpPr>
        <p:spPr>
          <a:xfrm>
            <a:off x="5450231" y="6995160"/>
            <a:ext cx="965809" cy="171226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0FAC65E4-64D5-F54F-4ACB-31B28ED7873A}"/>
              </a:ext>
            </a:extLst>
          </p:cNvPr>
          <p:cNvSpPr/>
          <p:nvPr/>
        </p:nvSpPr>
        <p:spPr>
          <a:xfrm>
            <a:off x="7774331" y="9334499"/>
            <a:ext cx="1183081" cy="161613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A901705E-FED6-FC96-0006-F81BD06DD68D}"/>
              </a:ext>
            </a:extLst>
          </p:cNvPr>
          <p:cNvSpPr/>
          <p:nvPr/>
        </p:nvSpPr>
        <p:spPr>
          <a:xfrm>
            <a:off x="5470786" y="8387505"/>
            <a:ext cx="965809" cy="171226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180C50C8-E11B-6B79-F2D3-5C6706F38002}"/>
              </a:ext>
            </a:extLst>
          </p:cNvPr>
          <p:cNvSpPr/>
          <p:nvPr/>
        </p:nvSpPr>
        <p:spPr>
          <a:xfrm>
            <a:off x="7774330" y="11003072"/>
            <a:ext cx="1183081" cy="161613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6044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églalap 16">
            <a:extLst>
              <a:ext uri="{FF2B5EF4-FFF2-40B4-BE49-F238E27FC236}">
                <a16:creationId xmlns:a16="http://schemas.microsoft.com/office/drawing/2014/main" id="{F9BE7A27-810B-DED5-7AD7-94B39955F6FF}"/>
              </a:ext>
            </a:extLst>
          </p:cNvPr>
          <p:cNvSpPr/>
          <p:nvPr/>
        </p:nvSpPr>
        <p:spPr>
          <a:xfrm>
            <a:off x="0" y="9525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3716C494-F94C-3CF1-EB52-52E32FEA0B67}"/>
              </a:ext>
            </a:extLst>
          </p:cNvPr>
          <p:cNvSpPr/>
          <p:nvPr/>
        </p:nvSpPr>
        <p:spPr>
          <a:xfrm>
            <a:off x="550409" y="1119869"/>
            <a:ext cx="2386012" cy="4258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571766E-7D67-80F9-89DC-9EBDC42D8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338"/>
            <a:ext cx="3758292" cy="719481"/>
          </a:xfrm>
        </p:spPr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Telephely</a:t>
            </a:r>
            <a:endParaRPr lang="hu-HU" b="1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BF10926-8BA8-A31C-B550-1614DD1F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48" r="58715" b="-29"/>
          <a:stretch/>
        </p:blipFill>
        <p:spPr>
          <a:xfrm>
            <a:off x="381001" y="2759548"/>
            <a:ext cx="4455888" cy="3717114"/>
          </a:xfrm>
          <a:prstGeom prst="rect">
            <a:avLst/>
          </a:prstGeom>
        </p:spPr>
      </p:pic>
      <p:sp>
        <p:nvSpPr>
          <p:cNvPr id="19" name="Szövegdoboz 18">
            <a:extLst>
              <a:ext uri="{FF2B5EF4-FFF2-40B4-BE49-F238E27FC236}">
                <a16:creationId xmlns:a16="http://schemas.microsoft.com/office/drawing/2014/main" id="{89611C56-2DB0-F14E-1821-92E9C7C7F4B0}"/>
              </a:ext>
            </a:extLst>
          </p:cNvPr>
          <p:cNvSpPr txBox="1"/>
          <p:nvPr/>
        </p:nvSpPr>
        <p:spPr>
          <a:xfrm>
            <a:off x="-5247142" y="1071502"/>
            <a:ext cx="15886567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IP </a:t>
            </a:r>
            <a:r>
              <a:rPr lang="en-US" dirty="0" err="1"/>
              <a:t>címzés</a:t>
            </a:r>
            <a:r>
              <a:rPr lang="en-US" dirty="0"/>
              <a:t> &amp; </a:t>
            </a:r>
            <a:r>
              <a:rPr lang="hu-HU" dirty="0" err="1"/>
              <a:t>VLANok</a:t>
            </a:r>
            <a:r>
              <a:rPr lang="en-US" dirty="0"/>
              <a:t>             </a:t>
            </a:r>
            <a:r>
              <a:rPr lang="hu-HU" dirty="0" err="1"/>
              <a:t>EtherChannel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                                      </a:t>
            </a:r>
            <a:r>
              <a:rPr lang="hu-HU" dirty="0">
                <a:solidFill>
                  <a:schemeClr val="bg1"/>
                </a:solidFill>
              </a:rPr>
              <a:t>HSRP</a:t>
            </a:r>
            <a:r>
              <a:rPr lang="en-US" dirty="0"/>
              <a:t>                                               </a:t>
            </a:r>
            <a:r>
              <a:rPr lang="hu-HU" dirty="0"/>
              <a:t>VPN</a:t>
            </a:r>
            <a:r>
              <a:rPr lang="en-US" dirty="0"/>
              <a:t>                                                   </a:t>
            </a:r>
            <a:r>
              <a:rPr lang="hu-HU" dirty="0"/>
              <a:t>ASA</a:t>
            </a:r>
            <a:r>
              <a:rPr lang="en-US" dirty="0"/>
              <a:t>                                            </a:t>
            </a:r>
            <a:r>
              <a:rPr lang="en-US" dirty="0" err="1"/>
              <a:t>Portsecurity</a:t>
            </a:r>
            <a:endParaRPr lang="hu-HU" dirty="0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728B5EF1-0BF9-CE23-6103-077A1A9F1DF0}"/>
              </a:ext>
            </a:extLst>
          </p:cNvPr>
          <p:cNvSpPr/>
          <p:nvPr/>
        </p:nvSpPr>
        <p:spPr>
          <a:xfrm>
            <a:off x="5009471" y="0"/>
            <a:ext cx="718252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E016D7E8-EA08-9373-D7F7-997BF8721BB3}"/>
              </a:ext>
            </a:extLst>
          </p:cNvPr>
          <p:cNvSpPr/>
          <p:nvPr/>
        </p:nvSpPr>
        <p:spPr>
          <a:xfrm>
            <a:off x="5246374" y="-12153582"/>
            <a:ext cx="6770294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AD480CD2-91A9-8763-BDCA-DB480D6C3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620668"/>
              </p:ext>
            </p:extLst>
          </p:nvPr>
        </p:nvGraphicFramePr>
        <p:xfrm>
          <a:off x="5244392" y="-11729528"/>
          <a:ext cx="6770295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637">
                  <a:extLst>
                    <a:ext uri="{9D8B030D-6E8A-4147-A177-3AD203B41FA5}">
                      <a16:colId xmlns:a16="http://schemas.microsoft.com/office/drawing/2014/main" val="2012815027"/>
                    </a:ext>
                  </a:extLst>
                </a:gridCol>
                <a:gridCol w="832657">
                  <a:extLst>
                    <a:ext uri="{9D8B030D-6E8A-4147-A177-3AD203B41FA5}">
                      <a16:colId xmlns:a16="http://schemas.microsoft.com/office/drawing/2014/main" val="2796411897"/>
                    </a:ext>
                  </a:extLst>
                </a:gridCol>
                <a:gridCol w="2164957">
                  <a:extLst>
                    <a:ext uri="{9D8B030D-6E8A-4147-A177-3AD203B41FA5}">
                      <a16:colId xmlns:a16="http://schemas.microsoft.com/office/drawing/2014/main" val="3474665450"/>
                    </a:ext>
                  </a:extLst>
                </a:gridCol>
                <a:gridCol w="2484044">
                  <a:extLst>
                    <a:ext uri="{9D8B030D-6E8A-4147-A177-3AD203B41FA5}">
                      <a16:colId xmlns:a16="http://schemas.microsoft.com/office/drawing/2014/main" val="3307383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Eszköz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VLAN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IPv4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IPv6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782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192.168.30.0/25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2001:db8:30:10::/64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48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192.168.30.128/25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2001:db8:30:20::/64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6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PC3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192.168.88.0/28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2001:db8:30:80::/64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859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Router 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  <a:p>
                      <a:r>
                        <a:rPr lang="en-US" dirty="0"/>
                        <a:t>20</a:t>
                      </a:r>
                    </a:p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192.168.30.2</a:t>
                      </a:r>
                    </a:p>
                    <a:p>
                      <a:r>
                        <a:rPr lang="en-US" dirty="0"/>
                        <a:t>192.168.30.130</a:t>
                      </a:r>
                    </a:p>
                    <a:p>
                      <a:r>
                        <a:rPr lang="en-US" dirty="0"/>
                        <a:t>192.168.88.1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2001:db8:30:10::1/64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2001:db8:30:20::1/64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2001:db8:88::1     /64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34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Router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  <a:p>
                      <a:r>
                        <a:rPr lang="en-US" dirty="0"/>
                        <a:t>20</a:t>
                      </a:r>
                    </a:p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192.168.30.3</a:t>
                      </a:r>
                    </a:p>
                    <a:p>
                      <a:r>
                        <a:rPr lang="en-US" dirty="0"/>
                        <a:t>192.168.30.131</a:t>
                      </a:r>
                    </a:p>
                    <a:p>
                      <a:r>
                        <a:rPr lang="en-US" dirty="0"/>
                        <a:t>192.168.88.2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2001:db8:30:10::2/64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2001:db8:30:20::2/64</a:t>
                      </a:r>
                      <a:endParaRPr lang="hu-HU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2001:db8:88::2     /64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2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HSRP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  <a:p>
                      <a:r>
                        <a:rPr lang="en-US" dirty="0"/>
                        <a:t>20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192.168.30.1</a:t>
                      </a:r>
                    </a:p>
                    <a:p>
                      <a:r>
                        <a:rPr lang="en-US" dirty="0"/>
                        <a:t>192.168.30.129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65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Switch 1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192.168.88.3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113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Switch 2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192.168.88.4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735334"/>
                  </a:ext>
                </a:extLst>
              </a:tr>
            </a:tbl>
          </a:graphicData>
        </a:graphic>
      </p:graphicFrame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57979F65-9AD6-EB82-B1D2-D42A4EEC6A6D}"/>
              </a:ext>
            </a:extLst>
          </p:cNvPr>
          <p:cNvSpPr/>
          <p:nvPr/>
        </p:nvSpPr>
        <p:spPr>
          <a:xfrm>
            <a:off x="5244392" y="-11996761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BE12CB4A-5883-DFF9-FE8F-6AD7D2999D8F}"/>
              </a:ext>
            </a:extLst>
          </p:cNvPr>
          <p:cNvSpPr/>
          <p:nvPr/>
        </p:nvSpPr>
        <p:spPr>
          <a:xfrm>
            <a:off x="5238749" y="-5909058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AAE7B545-5951-0921-9DB4-EA481F3E123A}"/>
              </a:ext>
            </a:extLst>
          </p:cNvPr>
          <p:cNvSpPr/>
          <p:nvPr/>
        </p:nvSpPr>
        <p:spPr>
          <a:xfrm>
            <a:off x="5238000" y="6620275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A1F29F5E-D2D2-065B-395C-2217E4E658AE}"/>
              </a:ext>
            </a:extLst>
          </p:cNvPr>
          <p:cNvSpPr/>
          <p:nvPr/>
        </p:nvSpPr>
        <p:spPr>
          <a:xfrm>
            <a:off x="5236768" y="356275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DE331E1F-65D9-79EC-5C82-5E073FC1FDED}"/>
              </a:ext>
            </a:extLst>
          </p:cNvPr>
          <p:cNvSpPr/>
          <p:nvPr/>
        </p:nvSpPr>
        <p:spPr>
          <a:xfrm>
            <a:off x="5238000" y="12884275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: lekerekített 19">
            <a:extLst>
              <a:ext uri="{FF2B5EF4-FFF2-40B4-BE49-F238E27FC236}">
                <a16:creationId xmlns:a16="http://schemas.microsoft.com/office/drawing/2014/main" id="{36AADC06-B6D7-8340-14D9-B5D06B18716B}"/>
              </a:ext>
            </a:extLst>
          </p:cNvPr>
          <p:cNvSpPr/>
          <p:nvPr/>
        </p:nvSpPr>
        <p:spPr>
          <a:xfrm>
            <a:off x="5236768" y="19148275"/>
            <a:ext cx="6772276" cy="6101104"/>
          </a:xfrm>
          <a:prstGeom prst="roundRect">
            <a:avLst>
              <a:gd name="adj" fmla="val 50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3" name="Kép 22">
            <a:extLst>
              <a:ext uri="{FF2B5EF4-FFF2-40B4-BE49-F238E27FC236}">
                <a16:creationId xmlns:a16="http://schemas.microsoft.com/office/drawing/2014/main" id="{D155565A-1E4E-528F-71D0-A7BE66929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31" y="-5600672"/>
            <a:ext cx="4443005" cy="2770220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8022EEEF-A759-1371-7A30-861DDCF29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703" y="-2774958"/>
            <a:ext cx="4443005" cy="2752962"/>
          </a:xfrm>
          <a:prstGeom prst="rect">
            <a:avLst/>
          </a:prstGeom>
        </p:spPr>
      </p:pic>
      <p:sp>
        <p:nvSpPr>
          <p:cNvPr id="26" name="Téglalap: lekerekített 25">
            <a:extLst>
              <a:ext uri="{FF2B5EF4-FFF2-40B4-BE49-F238E27FC236}">
                <a16:creationId xmlns:a16="http://schemas.microsoft.com/office/drawing/2014/main" id="{74CFA07D-B4B4-3050-BF73-9BD388EC36B0}"/>
              </a:ext>
            </a:extLst>
          </p:cNvPr>
          <p:cNvSpPr/>
          <p:nvPr/>
        </p:nvSpPr>
        <p:spPr>
          <a:xfrm>
            <a:off x="3656922" y="2992236"/>
            <a:ext cx="1029378" cy="1933574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8" name="Kép 27">
            <a:extLst>
              <a:ext uri="{FF2B5EF4-FFF2-40B4-BE49-F238E27FC236}">
                <a16:creationId xmlns:a16="http://schemas.microsoft.com/office/drawing/2014/main" id="{3FBEF941-52BF-BDA3-2DF8-125D8AF41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504" y="531388"/>
            <a:ext cx="3465172" cy="2951529"/>
          </a:xfrm>
          <a:prstGeom prst="rect">
            <a:avLst/>
          </a:prstGeom>
        </p:spPr>
      </p:pic>
      <p:pic>
        <p:nvPicPr>
          <p:cNvPr id="30" name="Kép 29">
            <a:extLst>
              <a:ext uri="{FF2B5EF4-FFF2-40B4-BE49-F238E27FC236}">
                <a16:creationId xmlns:a16="http://schemas.microsoft.com/office/drawing/2014/main" id="{4C5BC422-4A8E-3E02-EF2E-F6A45ABDE6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9050" y="2810274"/>
            <a:ext cx="4014710" cy="3489851"/>
          </a:xfrm>
          <a:prstGeom prst="rect">
            <a:avLst/>
          </a:prstGeom>
        </p:spPr>
      </p:pic>
      <p:sp>
        <p:nvSpPr>
          <p:cNvPr id="31" name="Téglalap: lekerekített 30">
            <a:extLst>
              <a:ext uri="{FF2B5EF4-FFF2-40B4-BE49-F238E27FC236}">
                <a16:creationId xmlns:a16="http://schemas.microsoft.com/office/drawing/2014/main" id="{509729CB-3014-5908-890D-DE0EA38FC9E3}"/>
              </a:ext>
            </a:extLst>
          </p:cNvPr>
          <p:cNvSpPr/>
          <p:nvPr/>
        </p:nvSpPr>
        <p:spPr>
          <a:xfrm>
            <a:off x="5450231" y="737235"/>
            <a:ext cx="965809" cy="171226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31">
            <a:extLst>
              <a:ext uri="{FF2B5EF4-FFF2-40B4-BE49-F238E27FC236}">
                <a16:creationId xmlns:a16="http://schemas.microsoft.com/office/drawing/2014/main" id="{0FAC65E4-64D5-F54F-4ACB-31B28ED7873A}"/>
              </a:ext>
            </a:extLst>
          </p:cNvPr>
          <p:cNvSpPr/>
          <p:nvPr/>
        </p:nvSpPr>
        <p:spPr>
          <a:xfrm>
            <a:off x="7774331" y="3076574"/>
            <a:ext cx="1183081" cy="161613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A901705E-FED6-FC96-0006-F81BD06DD68D}"/>
              </a:ext>
            </a:extLst>
          </p:cNvPr>
          <p:cNvSpPr/>
          <p:nvPr/>
        </p:nvSpPr>
        <p:spPr>
          <a:xfrm>
            <a:off x="5470786" y="2129580"/>
            <a:ext cx="965809" cy="171226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: lekerekített 33">
            <a:extLst>
              <a:ext uri="{FF2B5EF4-FFF2-40B4-BE49-F238E27FC236}">
                <a16:creationId xmlns:a16="http://schemas.microsoft.com/office/drawing/2014/main" id="{180C50C8-E11B-6B79-F2D3-5C6706F38002}"/>
              </a:ext>
            </a:extLst>
          </p:cNvPr>
          <p:cNvSpPr/>
          <p:nvPr/>
        </p:nvSpPr>
        <p:spPr>
          <a:xfrm>
            <a:off x="7774330" y="4745147"/>
            <a:ext cx="1183081" cy="161613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7062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– 2022 téma">
  <a:themeElements>
    <a:clrScheme name="Office 2013 – 2022 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181</TotalTime>
  <Words>324</Words>
  <Application>Microsoft Office PowerPoint</Application>
  <PresentationFormat>Szélesvásznú</PresentationFormat>
  <Paragraphs>157</Paragraphs>
  <Slides>4</Slides>
  <Notes>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2013 – 2022 téma</vt:lpstr>
      <vt:lpstr>Project PaceX</vt:lpstr>
      <vt:lpstr>1. Telephely</vt:lpstr>
      <vt:lpstr>1. Telephely</vt:lpstr>
      <vt:lpstr>1. Telephely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Ádám Tóth</dc:creator>
  <cp:lastModifiedBy>Ádám Tóth</cp:lastModifiedBy>
  <cp:revision>21</cp:revision>
  <dcterms:created xsi:type="dcterms:W3CDTF">2025-11-12T08:04:46Z</dcterms:created>
  <dcterms:modified xsi:type="dcterms:W3CDTF">2025-11-12T11:06:36Z</dcterms:modified>
</cp:coreProperties>
</file>